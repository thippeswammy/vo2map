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2004000" cy="36347400"/>
  <p:notesSz cx="6858000" cy="9144000"/>
  <p:embeddedFontLst>
    <p:embeddedFont>
      <p:font typeface="Poppins" charset="1" panose="00000500000000000000"/>
      <p:regular r:id="rId7"/>
    </p:embeddedFont>
    <p:embeddedFont>
      <p:font typeface="Poppins Bold" charset="1" panose="000008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7625" y="5329972"/>
            <a:ext cx="6994085" cy="904429"/>
          </a:xfrm>
          <a:prstGeom prst="rect">
            <a:avLst/>
          </a:prstGeom>
        </p:spPr>
        <p:txBody>
          <a:bodyPr anchor="t" rtlCol="false" tIns="0" lIns="0" bIns="0" rIns="0">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name="TextBox 3" id="3"/>
          <p:cNvSpPr txBox="true"/>
          <p:nvPr/>
        </p:nvSpPr>
        <p:spPr>
          <a:xfrm rot="0">
            <a:off x="439948" y="19218602"/>
            <a:ext cx="6994085" cy="904429"/>
          </a:xfrm>
          <a:prstGeom prst="rect">
            <a:avLst/>
          </a:prstGeom>
        </p:spPr>
        <p:txBody>
          <a:bodyPr anchor="t" rtlCol="false" tIns="0" lIns="0" bIns="0" rIns="0">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name="TextBox 4" id="4"/>
          <p:cNvSpPr txBox="true"/>
          <p:nvPr/>
        </p:nvSpPr>
        <p:spPr>
          <a:xfrm rot="0">
            <a:off x="11239622" y="5329972"/>
            <a:ext cx="6994085" cy="904429"/>
          </a:xfrm>
          <a:prstGeom prst="rect">
            <a:avLst/>
          </a:prstGeom>
        </p:spPr>
        <p:txBody>
          <a:bodyPr anchor="t" rtlCol="false" tIns="0" lIns="0" bIns="0" rIns="0">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name="TextBox 5" id="5"/>
          <p:cNvSpPr txBox="true"/>
          <p:nvPr/>
        </p:nvSpPr>
        <p:spPr>
          <a:xfrm rot="0">
            <a:off x="21579838" y="5329972"/>
            <a:ext cx="6994085" cy="904429"/>
          </a:xfrm>
          <a:prstGeom prst="rect">
            <a:avLst/>
          </a:prstGeom>
        </p:spPr>
        <p:txBody>
          <a:bodyPr anchor="t" rtlCol="false" tIns="0" lIns="0" bIns="0" rIns="0">
            <a:spAutoFit/>
          </a:bodyPr>
          <a:lstStyle/>
          <a:p>
            <a:pPr algn="l">
              <a:lnSpc>
                <a:spcPts val="6600"/>
              </a:lnSpc>
            </a:pPr>
            <a:r>
              <a:rPr lang="en-US" sz="5500">
                <a:solidFill>
                  <a:srgbClr val="000000"/>
                </a:solidFill>
                <a:latin typeface="Poppins"/>
                <a:ea typeface="Poppins"/>
                <a:cs typeface="Poppins"/>
                <a:sym typeface="Poppins"/>
              </a:rPr>
              <a:t>Insert your text Here</a:t>
            </a:r>
          </a:p>
        </p:txBody>
      </p:sp>
      <p:sp>
        <p:nvSpPr>
          <p:cNvPr name="TextBox 6" id="6"/>
          <p:cNvSpPr txBox="true"/>
          <p:nvPr/>
        </p:nvSpPr>
        <p:spPr>
          <a:xfrm rot="0">
            <a:off x="11216640" y="25636220"/>
            <a:ext cx="6994085" cy="904429"/>
          </a:xfrm>
          <a:prstGeom prst="rect">
            <a:avLst/>
          </a:prstGeom>
        </p:spPr>
        <p:txBody>
          <a:bodyPr anchor="t" rtlCol="false" tIns="0" lIns="0" bIns="0" rIns="0">
            <a:spAutoFit/>
          </a:bodyPr>
          <a:lstStyle/>
          <a:p>
            <a:pPr algn="l">
              <a:lnSpc>
                <a:spcPts val="6600"/>
              </a:lnSpc>
            </a:pPr>
            <a:r>
              <a:rPr lang="en-US" sz="5500">
                <a:solidFill>
                  <a:srgbClr val="000000"/>
                </a:solidFill>
                <a:latin typeface="Poppins"/>
                <a:ea typeface="Poppins"/>
                <a:cs typeface="Poppins"/>
                <a:sym typeface="Poppins"/>
              </a:rPr>
              <a:t>Insert your text Here</a:t>
            </a:r>
          </a:p>
        </p:txBody>
      </p:sp>
      <p:grpSp>
        <p:nvGrpSpPr>
          <p:cNvPr name="Group 7" id="7"/>
          <p:cNvGrpSpPr/>
          <p:nvPr/>
        </p:nvGrpSpPr>
        <p:grpSpPr>
          <a:xfrm rot="0">
            <a:off x="0" y="1"/>
            <a:ext cx="32004000" cy="2842026"/>
            <a:chOff x="0" y="0"/>
            <a:chExt cx="42672000" cy="3789368"/>
          </a:xfrm>
        </p:grpSpPr>
        <p:sp>
          <p:nvSpPr>
            <p:cNvPr name="Freeform 8" id="8"/>
            <p:cNvSpPr/>
            <p:nvPr/>
          </p:nvSpPr>
          <p:spPr>
            <a:xfrm flipH="false" flipV="false" rot="0">
              <a:off x="0" y="0"/>
              <a:ext cx="42672000" cy="3789426"/>
            </a:xfrm>
            <a:custGeom>
              <a:avLst/>
              <a:gdLst/>
              <a:ahLst/>
              <a:cxnLst/>
              <a:rect r="r" b="b" t="t" l="l"/>
              <a:pathLst>
                <a:path h="3789426" w="42672000">
                  <a:moveTo>
                    <a:pt x="0" y="0"/>
                  </a:moveTo>
                  <a:lnTo>
                    <a:pt x="42672000" y="0"/>
                  </a:lnTo>
                  <a:lnTo>
                    <a:pt x="42672000" y="3789426"/>
                  </a:lnTo>
                  <a:lnTo>
                    <a:pt x="0" y="3789426"/>
                  </a:lnTo>
                  <a:close/>
                </a:path>
              </a:pathLst>
            </a:custGeom>
            <a:solidFill>
              <a:srgbClr val="E2F0D9"/>
            </a:solidFill>
          </p:spPr>
        </p:sp>
      </p:grpSp>
      <p:grpSp>
        <p:nvGrpSpPr>
          <p:cNvPr name="Group 9" id="9"/>
          <p:cNvGrpSpPr/>
          <p:nvPr/>
        </p:nvGrpSpPr>
        <p:grpSpPr>
          <a:xfrm rot="0">
            <a:off x="0" y="2502403"/>
            <a:ext cx="32004000" cy="33854522"/>
            <a:chOff x="0" y="0"/>
            <a:chExt cx="42672000" cy="45139363"/>
          </a:xfrm>
        </p:grpSpPr>
        <p:sp>
          <p:nvSpPr>
            <p:cNvPr name="Freeform 10" id="10"/>
            <p:cNvSpPr/>
            <p:nvPr/>
          </p:nvSpPr>
          <p:spPr>
            <a:xfrm flipH="false" flipV="false" rot="0">
              <a:off x="0" y="0"/>
              <a:ext cx="42672000" cy="45139347"/>
            </a:xfrm>
            <a:custGeom>
              <a:avLst/>
              <a:gdLst/>
              <a:ahLst/>
              <a:cxnLst/>
              <a:rect r="r" b="b" t="t" l="l"/>
              <a:pathLst>
                <a:path h="45139347" w="42672000">
                  <a:moveTo>
                    <a:pt x="0" y="0"/>
                  </a:moveTo>
                  <a:lnTo>
                    <a:pt x="42672000" y="0"/>
                  </a:lnTo>
                  <a:lnTo>
                    <a:pt x="42672000" y="45139347"/>
                  </a:lnTo>
                  <a:lnTo>
                    <a:pt x="0" y="45139347"/>
                  </a:lnTo>
                  <a:close/>
                </a:path>
              </a:pathLst>
            </a:custGeom>
            <a:solidFill>
              <a:srgbClr val="004740"/>
            </a:solidFill>
          </p:spPr>
        </p:sp>
      </p:grpSp>
      <p:grpSp>
        <p:nvGrpSpPr>
          <p:cNvPr name="Group 11" id="11"/>
          <p:cNvGrpSpPr/>
          <p:nvPr/>
        </p:nvGrpSpPr>
        <p:grpSpPr>
          <a:xfrm rot="0">
            <a:off x="348508" y="3549165"/>
            <a:ext cx="10243292" cy="15033613"/>
            <a:chOff x="0" y="0"/>
            <a:chExt cx="13657720" cy="20044813"/>
          </a:xfrm>
        </p:grpSpPr>
        <p:sp>
          <p:nvSpPr>
            <p:cNvPr name="Freeform 12" id="12"/>
            <p:cNvSpPr/>
            <p:nvPr/>
          </p:nvSpPr>
          <p:spPr>
            <a:xfrm flipH="false" flipV="false" rot="0">
              <a:off x="0" y="0"/>
              <a:ext cx="13657707" cy="20044831"/>
            </a:xfrm>
            <a:custGeom>
              <a:avLst/>
              <a:gdLst/>
              <a:ahLst/>
              <a:cxnLst/>
              <a:rect r="r" b="b" t="t" l="l"/>
              <a:pathLst>
                <a:path h="20044831" w="13657707">
                  <a:moveTo>
                    <a:pt x="0" y="401229"/>
                  </a:moveTo>
                  <a:cubicBezTo>
                    <a:pt x="0" y="179639"/>
                    <a:pt x="152273" y="0"/>
                    <a:pt x="340106" y="0"/>
                  </a:cubicBezTo>
                  <a:lnTo>
                    <a:pt x="13317601" y="0"/>
                  </a:lnTo>
                  <a:cubicBezTo>
                    <a:pt x="13505435" y="0"/>
                    <a:pt x="13657707" y="179639"/>
                    <a:pt x="13657707" y="401229"/>
                  </a:cubicBezTo>
                  <a:lnTo>
                    <a:pt x="13657707" y="19643604"/>
                  </a:lnTo>
                  <a:cubicBezTo>
                    <a:pt x="13657707" y="19865195"/>
                    <a:pt x="13505435" y="20044831"/>
                    <a:pt x="13317601" y="20044831"/>
                  </a:cubicBezTo>
                  <a:lnTo>
                    <a:pt x="340106" y="20044831"/>
                  </a:lnTo>
                  <a:cubicBezTo>
                    <a:pt x="152273" y="20044831"/>
                    <a:pt x="0" y="19865195"/>
                    <a:pt x="0" y="19643604"/>
                  </a:cubicBezTo>
                  <a:close/>
                </a:path>
              </a:pathLst>
            </a:custGeom>
            <a:solidFill>
              <a:srgbClr val="E2F0D9"/>
            </a:solidFill>
          </p:spPr>
        </p:sp>
      </p:grpSp>
      <p:grpSp>
        <p:nvGrpSpPr>
          <p:cNvPr name="Group 13" id="13"/>
          <p:cNvGrpSpPr/>
          <p:nvPr/>
        </p:nvGrpSpPr>
        <p:grpSpPr>
          <a:xfrm rot="0">
            <a:off x="348508" y="18839953"/>
            <a:ext cx="13434629" cy="17123531"/>
            <a:chOff x="0" y="0"/>
            <a:chExt cx="17031028" cy="21707436"/>
          </a:xfrm>
        </p:grpSpPr>
        <p:sp>
          <p:nvSpPr>
            <p:cNvPr name="Freeform 14" id="14"/>
            <p:cNvSpPr/>
            <p:nvPr/>
          </p:nvSpPr>
          <p:spPr>
            <a:xfrm flipH="false" flipV="false" rot="0">
              <a:off x="0" y="0"/>
              <a:ext cx="17030981" cy="21707380"/>
            </a:xfrm>
            <a:custGeom>
              <a:avLst/>
              <a:gdLst/>
              <a:ahLst/>
              <a:cxnLst/>
              <a:rect r="r" b="b" t="t" l="l"/>
              <a:pathLst>
                <a:path h="21707380" w="17030981">
                  <a:moveTo>
                    <a:pt x="0" y="307945"/>
                  </a:moveTo>
                  <a:cubicBezTo>
                    <a:pt x="0" y="137855"/>
                    <a:pt x="189837" y="0"/>
                    <a:pt x="424063" y="0"/>
                  </a:cubicBezTo>
                  <a:lnTo>
                    <a:pt x="16606918" y="0"/>
                  </a:lnTo>
                  <a:cubicBezTo>
                    <a:pt x="16841144" y="0"/>
                    <a:pt x="17030981" y="137855"/>
                    <a:pt x="17030981" y="307945"/>
                  </a:cubicBezTo>
                  <a:lnTo>
                    <a:pt x="17030981" y="21399435"/>
                  </a:lnTo>
                  <a:cubicBezTo>
                    <a:pt x="17030981" y="21569525"/>
                    <a:pt x="16841144" y="21707380"/>
                    <a:pt x="16606918" y="21707380"/>
                  </a:cubicBezTo>
                  <a:lnTo>
                    <a:pt x="424063" y="21707380"/>
                  </a:lnTo>
                  <a:cubicBezTo>
                    <a:pt x="189837" y="21707380"/>
                    <a:pt x="0" y="21569525"/>
                    <a:pt x="0" y="21399435"/>
                  </a:cubicBezTo>
                  <a:close/>
                </a:path>
              </a:pathLst>
            </a:custGeom>
            <a:solidFill>
              <a:srgbClr val="E2F0D9"/>
            </a:solidFill>
          </p:spPr>
        </p:sp>
      </p:grpSp>
      <p:grpSp>
        <p:nvGrpSpPr>
          <p:cNvPr name="Group 15" id="15"/>
          <p:cNvGrpSpPr/>
          <p:nvPr/>
        </p:nvGrpSpPr>
        <p:grpSpPr>
          <a:xfrm rot="0">
            <a:off x="10896600" y="3614430"/>
            <a:ext cx="9857616" cy="14968348"/>
            <a:chOff x="0" y="0"/>
            <a:chExt cx="13143488" cy="19957797"/>
          </a:xfrm>
        </p:grpSpPr>
        <p:sp>
          <p:nvSpPr>
            <p:cNvPr name="Freeform 16" id="16"/>
            <p:cNvSpPr/>
            <p:nvPr/>
          </p:nvSpPr>
          <p:spPr>
            <a:xfrm flipH="false" flipV="false" rot="0">
              <a:off x="0" y="0"/>
              <a:ext cx="13143485" cy="19957819"/>
            </a:xfrm>
            <a:custGeom>
              <a:avLst/>
              <a:gdLst/>
              <a:ahLst/>
              <a:cxnLst/>
              <a:rect r="r" b="b" t="t" l="l"/>
              <a:pathLst>
                <a:path h="19957819" w="13143485">
                  <a:moveTo>
                    <a:pt x="0" y="251442"/>
                  </a:moveTo>
                  <a:cubicBezTo>
                    <a:pt x="0" y="112598"/>
                    <a:pt x="146558" y="0"/>
                    <a:pt x="327279" y="0"/>
                  </a:cubicBezTo>
                  <a:lnTo>
                    <a:pt x="12816205" y="0"/>
                  </a:lnTo>
                  <a:cubicBezTo>
                    <a:pt x="12996926" y="0"/>
                    <a:pt x="13143485" y="112598"/>
                    <a:pt x="13143485" y="251442"/>
                  </a:cubicBezTo>
                  <a:lnTo>
                    <a:pt x="13143485" y="19706372"/>
                  </a:lnTo>
                  <a:cubicBezTo>
                    <a:pt x="13143485" y="19845217"/>
                    <a:pt x="12996926" y="19957819"/>
                    <a:pt x="12816205" y="19957819"/>
                  </a:cubicBezTo>
                  <a:lnTo>
                    <a:pt x="327279" y="19957819"/>
                  </a:lnTo>
                  <a:cubicBezTo>
                    <a:pt x="146558" y="19957819"/>
                    <a:pt x="0" y="19845217"/>
                    <a:pt x="0" y="19706372"/>
                  </a:cubicBezTo>
                  <a:close/>
                </a:path>
              </a:pathLst>
            </a:custGeom>
            <a:solidFill>
              <a:srgbClr val="E2F0D9"/>
            </a:solidFill>
          </p:spPr>
        </p:sp>
      </p:grpSp>
      <p:grpSp>
        <p:nvGrpSpPr>
          <p:cNvPr name="Group 17" id="17"/>
          <p:cNvGrpSpPr/>
          <p:nvPr/>
        </p:nvGrpSpPr>
        <p:grpSpPr>
          <a:xfrm rot="0">
            <a:off x="21059016" y="4872758"/>
            <a:ext cx="10658789" cy="17641591"/>
            <a:chOff x="0" y="0"/>
            <a:chExt cx="14211719" cy="23522121"/>
          </a:xfrm>
        </p:grpSpPr>
        <p:sp>
          <p:nvSpPr>
            <p:cNvPr name="Freeform 18" id="18"/>
            <p:cNvSpPr/>
            <p:nvPr/>
          </p:nvSpPr>
          <p:spPr>
            <a:xfrm flipH="false" flipV="false" rot="0">
              <a:off x="0" y="0"/>
              <a:ext cx="14211722" cy="23522144"/>
            </a:xfrm>
            <a:custGeom>
              <a:avLst/>
              <a:gdLst/>
              <a:ahLst/>
              <a:cxnLst/>
              <a:rect r="r" b="b" t="t" l="l"/>
              <a:pathLst>
                <a:path h="23522144" w="14211722">
                  <a:moveTo>
                    <a:pt x="0" y="318428"/>
                  </a:moveTo>
                  <a:cubicBezTo>
                    <a:pt x="0" y="142597"/>
                    <a:pt x="158476" y="0"/>
                    <a:pt x="353887" y="0"/>
                  </a:cubicBezTo>
                  <a:lnTo>
                    <a:pt x="13857835" y="0"/>
                  </a:lnTo>
                  <a:cubicBezTo>
                    <a:pt x="14053245" y="0"/>
                    <a:pt x="14211722" y="142597"/>
                    <a:pt x="14211722" y="318428"/>
                  </a:cubicBezTo>
                  <a:lnTo>
                    <a:pt x="14211722" y="23203712"/>
                  </a:lnTo>
                  <a:cubicBezTo>
                    <a:pt x="14211722" y="23379545"/>
                    <a:pt x="14053245" y="23522144"/>
                    <a:pt x="13857835" y="23522144"/>
                  </a:cubicBezTo>
                  <a:lnTo>
                    <a:pt x="353887" y="23522144"/>
                  </a:lnTo>
                  <a:cubicBezTo>
                    <a:pt x="158476" y="23522144"/>
                    <a:pt x="0" y="23379545"/>
                    <a:pt x="0" y="23203712"/>
                  </a:cubicBezTo>
                  <a:close/>
                </a:path>
              </a:pathLst>
            </a:custGeom>
            <a:solidFill>
              <a:srgbClr val="E2F0D9"/>
            </a:solidFill>
          </p:spPr>
        </p:sp>
      </p:grpSp>
      <p:grpSp>
        <p:nvGrpSpPr>
          <p:cNvPr name="Group 19" id="19"/>
          <p:cNvGrpSpPr/>
          <p:nvPr/>
        </p:nvGrpSpPr>
        <p:grpSpPr>
          <a:xfrm rot="0">
            <a:off x="14234463" y="29112037"/>
            <a:ext cx="17483342" cy="6851447"/>
            <a:chOff x="0" y="0"/>
            <a:chExt cx="27385998" cy="10732142"/>
          </a:xfrm>
        </p:grpSpPr>
        <p:sp>
          <p:nvSpPr>
            <p:cNvPr name="Freeform 20" id="20"/>
            <p:cNvSpPr/>
            <p:nvPr/>
          </p:nvSpPr>
          <p:spPr>
            <a:xfrm flipH="false" flipV="false" rot="0">
              <a:off x="0" y="0"/>
              <a:ext cx="27385956" cy="10732157"/>
            </a:xfrm>
            <a:custGeom>
              <a:avLst/>
              <a:gdLst/>
              <a:ahLst/>
              <a:cxnLst/>
              <a:rect r="r" b="b" t="t" l="l"/>
              <a:pathLst>
                <a:path h="10732157" w="27385956">
                  <a:moveTo>
                    <a:pt x="0" y="267266"/>
                  </a:moveTo>
                  <a:cubicBezTo>
                    <a:pt x="0" y="119566"/>
                    <a:pt x="68153" y="0"/>
                    <a:pt x="152343" y="0"/>
                  </a:cubicBezTo>
                  <a:lnTo>
                    <a:pt x="27233615" y="0"/>
                  </a:lnTo>
                  <a:cubicBezTo>
                    <a:pt x="27317678" y="0"/>
                    <a:pt x="27385956" y="119566"/>
                    <a:pt x="27385956" y="267266"/>
                  </a:cubicBezTo>
                  <a:lnTo>
                    <a:pt x="27385956" y="10464902"/>
                  </a:lnTo>
                  <a:cubicBezTo>
                    <a:pt x="27385956" y="10612382"/>
                    <a:pt x="27317805" y="10732157"/>
                    <a:pt x="27233615" y="10732157"/>
                  </a:cubicBezTo>
                  <a:lnTo>
                    <a:pt x="152343" y="10732157"/>
                  </a:lnTo>
                  <a:cubicBezTo>
                    <a:pt x="68153" y="10732157"/>
                    <a:pt x="0" y="10612602"/>
                    <a:pt x="0" y="10464902"/>
                  </a:cubicBezTo>
                  <a:close/>
                </a:path>
              </a:pathLst>
            </a:custGeom>
            <a:solidFill>
              <a:srgbClr val="E2F0D9"/>
            </a:solidFill>
          </p:spPr>
        </p:sp>
      </p:grpSp>
      <p:grpSp>
        <p:nvGrpSpPr>
          <p:cNvPr name="Group 21" id="21"/>
          <p:cNvGrpSpPr/>
          <p:nvPr/>
        </p:nvGrpSpPr>
        <p:grpSpPr>
          <a:xfrm rot="0">
            <a:off x="14150992" y="22893828"/>
            <a:ext cx="17483342" cy="5599083"/>
            <a:chOff x="0" y="0"/>
            <a:chExt cx="27385998" cy="8770433"/>
          </a:xfrm>
        </p:grpSpPr>
        <p:sp>
          <p:nvSpPr>
            <p:cNvPr name="Freeform 22" id="22"/>
            <p:cNvSpPr/>
            <p:nvPr/>
          </p:nvSpPr>
          <p:spPr>
            <a:xfrm flipH="false" flipV="false" rot="0">
              <a:off x="0" y="0"/>
              <a:ext cx="27386083" cy="8770510"/>
            </a:xfrm>
            <a:custGeom>
              <a:avLst/>
              <a:gdLst/>
              <a:ahLst/>
              <a:cxnLst/>
              <a:rect r="r" b="b" t="t" l="l"/>
              <a:pathLst>
                <a:path h="8770510" w="27386083">
                  <a:moveTo>
                    <a:pt x="0" y="218426"/>
                  </a:moveTo>
                  <a:cubicBezTo>
                    <a:pt x="0" y="97793"/>
                    <a:pt x="93335" y="0"/>
                    <a:pt x="208469" y="0"/>
                  </a:cubicBezTo>
                  <a:lnTo>
                    <a:pt x="27177616" y="0"/>
                  </a:lnTo>
                  <a:cubicBezTo>
                    <a:pt x="27292746" y="0"/>
                    <a:pt x="27386083" y="97793"/>
                    <a:pt x="27386083" y="218426"/>
                  </a:cubicBezTo>
                  <a:lnTo>
                    <a:pt x="27386083" y="8552087"/>
                  </a:lnTo>
                  <a:cubicBezTo>
                    <a:pt x="27386083" y="8672720"/>
                    <a:pt x="27292746" y="8770510"/>
                    <a:pt x="27177616" y="8770510"/>
                  </a:cubicBezTo>
                  <a:lnTo>
                    <a:pt x="208469" y="8770510"/>
                  </a:lnTo>
                  <a:cubicBezTo>
                    <a:pt x="93335" y="8770382"/>
                    <a:pt x="0" y="8672720"/>
                    <a:pt x="0" y="8552087"/>
                  </a:cubicBezTo>
                  <a:close/>
                </a:path>
              </a:pathLst>
            </a:custGeom>
            <a:solidFill>
              <a:srgbClr val="E2F0D9"/>
            </a:solidFill>
          </p:spPr>
        </p:sp>
      </p:grpSp>
      <p:grpSp>
        <p:nvGrpSpPr>
          <p:cNvPr name="Group 23" id="23"/>
          <p:cNvGrpSpPr>
            <a:grpSpLocks noChangeAspect="true"/>
          </p:cNvGrpSpPr>
          <p:nvPr/>
        </p:nvGrpSpPr>
        <p:grpSpPr>
          <a:xfrm rot="0">
            <a:off x="28575" y="89827"/>
            <a:ext cx="6343650" cy="2457953"/>
            <a:chOff x="0" y="0"/>
            <a:chExt cx="8458200" cy="3277271"/>
          </a:xfrm>
        </p:grpSpPr>
        <p:sp>
          <p:nvSpPr>
            <p:cNvPr name="Freeform 24" id="24" descr="A logo on a black background  AI-generated content may be incorrect."/>
            <p:cNvSpPr/>
            <p:nvPr/>
          </p:nvSpPr>
          <p:spPr>
            <a:xfrm flipH="false" flipV="false" rot="0">
              <a:off x="0" y="0"/>
              <a:ext cx="8458200" cy="3277235"/>
            </a:xfrm>
            <a:custGeom>
              <a:avLst/>
              <a:gdLst/>
              <a:ahLst/>
              <a:cxnLst/>
              <a:rect r="r" b="b" t="t" l="l"/>
              <a:pathLst>
                <a:path h="3277235" w="8458200">
                  <a:moveTo>
                    <a:pt x="0" y="0"/>
                  </a:moveTo>
                  <a:lnTo>
                    <a:pt x="8458200" y="0"/>
                  </a:lnTo>
                  <a:lnTo>
                    <a:pt x="8458200" y="3277235"/>
                  </a:lnTo>
                  <a:lnTo>
                    <a:pt x="0" y="3277235"/>
                  </a:lnTo>
                  <a:lnTo>
                    <a:pt x="0" y="0"/>
                  </a:lnTo>
                  <a:close/>
                </a:path>
              </a:pathLst>
            </a:custGeom>
            <a:blipFill>
              <a:blip r:embed="rId2"/>
              <a:stretch>
                <a:fillRect l="0" t="-23058" r="0" b="-22262"/>
              </a:stretch>
            </a:blipFill>
          </p:spPr>
        </p:sp>
      </p:grpSp>
      <p:grpSp>
        <p:nvGrpSpPr>
          <p:cNvPr name="Group 25" id="25"/>
          <p:cNvGrpSpPr>
            <a:grpSpLocks noChangeAspect="true"/>
          </p:cNvGrpSpPr>
          <p:nvPr/>
        </p:nvGrpSpPr>
        <p:grpSpPr>
          <a:xfrm rot="0">
            <a:off x="28763291" y="89827"/>
            <a:ext cx="3240709" cy="2288751"/>
            <a:chOff x="0" y="0"/>
            <a:chExt cx="4320945" cy="3051668"/>
          </a:xfrm>
        </p:grpSpPr>
        <p:sp>
          <p:nvSpPr>
            <p:cNvPr name="Freeform 26" id="26" descr="A logo with text and dots  AI-generated content may be incorrect."/>
            <p:cNvSpPr/>
            <p:nvPr/>
          </p:nvSpPr>
          <p:spPr>
            <a:xfrm flipH="false" flipV="false" rot="0">
              <a:off x="0" y="0"/>
              <a:ext cx="4320921" cy="3051683"/>
            </a:xfrm>
            <a:custGeom>
              <a:avLst/>
              <a:gdLst/>
              <a:ahLst/>
              <a:cxnLst/>
              <a:rect r="r" b="b" t="t" l="l"/>
              <a:pathLst>
                <a:path h="3051683" w="4320921">
                  <a:moveTo>
                    <a:pt x="0" y="0"/>
                  </a:moveTo>
                  <a:lnTo>
                    <a:pt x="4320921" y="0"/>
                  </a:lnTo>
                  <a:lnTo>
                    <a:pt x="4320921" y="3051683"/>
                  </a:lnTo>
                  <a:lnTo>
                    <a:pt x="0" y="3051683"/>
                  </a:lnTo>
                  <a:lnTo>
                    <a:pt x="0" y="0"/>
                  </a:lnTo>
                  <a:close/>
                </a:path>
              </a:pathLst>
            </a:custGeom>
            <a:blipFill>
              <a:blip r:embed="rId3"/>
              <a:stretch>
                <a:fillRect l="0" t="0" r="0" b="0"/>
              </a:stretch>
            </a:blipFill>
          </p:spPr>
        </p:sp>
      </p:grpSp>
      <p:sp>
        <p:nvSpPr>
          <p:cNvPr name="Freeform 27" id="27"/>
          <p:cNvSpPr/>
          <p:nvPr/>
        </p:nvSpPr>
        <p:spPr>
          <a:xfrm flipH="false" flipV="false" rot="0">
            <a:off x="10477404" y="19354303"/>
            <a:ext cx="3031516" cy="994055"/>
          </a:xfrm>
          <a:custGeom>
            <a:avLst/>
            <a:gdLst/>
            <a:ahLst/>
            <a:cxnLst/>
            <a:rect r="r" b="b" t="t" l="l"/>
            <a:pathLst>
              <a:path h="994055" w="3031516">
                <a:moveTo>
                  <a:pt x="0" y="0"/>
                </a:moveTo>
                <a:lnTo>
                  <a:pt x="3031515" y="0"/>
                </a:lnTo>
                <a:lnTo>
                  <a:pt x="3031515" y="994055"/>
                </a:lnTo>
                <a:lnTo>
                  <a:pt x="0" y="994055"/>
                </a:lnTo>
                <a:lnTo>
                  <a:pt x="0" y="0"/>
                </a:lnTo>
                <a:close/>
              </a:path>
            </a:pathLst>
          </a:custGeom>
          <a:blipFill>
            <a:blip r:embed="rId4"/>
            <a:stretch>
              <a:fillRect l="0" t="0" r="0" b="0"/>
            </a:stretch>
          </a:blipFill>
        </p:spPr>
      </p:sp>
      <p:sp>
        <p:nvSpPr>
          <p:cNvPr name="Freeform 28" id="28"/>
          <p:cNvSpPr/>
          <p:nvPr/>
        </p:nvSpPr>
        <p:spPr>
          <a:xfrm flipH="false" flipV="false" rot="0">
            <a:off x="21579838" y="6404182"/>
            <a:ext cx="4655908" cy="3608329"/>
          </a:xfrm>
          <a:custGeom>
            <a:avLst/>
            <a:gdLst/>
            <a:ahLst/>
            <a:cxnLst/>
            <a:rect r="r" b="b" t="t" l="l"/>
            <a:pathLst>
              <a:path h="3608329" w="4655908">
                <a:moveTo>
                  <a:pt x="0" y="0"/>
                </a:moveTo>
                <a:lnTo>
                  <a:pt x="4655908" y="0"/>
                </a:lnTo>
                <a:lnTo>
                  <a:pt x="4655908" y="3608329"/>
                </a:lnTo>
                <a:lnTo>
                  <a:pt x="0" y="3608329"/>
                </a:lnTo>
                <a:lnTo>
                  <a:pt x="0" y="0"/>
                </a:lnTo>
                <a:close/>
              </a:path>
            </a:pathLst>
          </a:custGeom>
          <a:blipFill>
            <a:blip r:embed="rId5"/>
            <a:stretch>
              <a:fillRect l="0" t="0" r="0" b="0"/>
            </a:stretch>
          </a:blipFill>
        </p:spPr>
      </p:sp>
      <p:sp>
        <p:nvSpPr>
          <p:cNvPr name="Freeform 29" id="29"/>
          <p:cNvSpPr/>
          <p:nvPr/>
        </p:nvSpPr>
        <p:spPr>
          <a:xfrm flipH="false" flipV="false" rot="0">
            <a:off x="21506421" y="13562320"/>
            <a:ext cx="3752429" cy="2781296"/>
          </a:xfrm>
          <a:custGeom>
            <a:avLst/>
            <a:gdLst/>
            <a:ahLst/>
            <a:cxnLst/>
            <a:rect r="r" b="b" t="t" l="l"/>
            <a:pathLst>
              <a:path h="2781296" w="3752429">
                <a:moveTo>
                  <a:pt x="0" y="0"/>
                </a:moveTo>
                <a:lnTo>
                  <a:pt x="3752429" y="0"/>
                </a:lnTo>
                <a:lnTo>
                  <a:pt x="3752429" y="2781296"/>
                </a:lnTo>
                <a:lnTo>
                  <a:pt x="0" y="2781296"/>
                </a:lnTo>
                <a:lnTo>
                  <a:pt x="0" y="0"/>
                </a:lnTo>
                <a:close/>
              </a:path>
            </a:pathLst>
          </a:custGeom>
          <a:blipFill>
            <a:blip r:embed="rId6"/>
            <a:stretch>
              <a:fillRect l="0" t="0" r="0" b="0"/>
            </a:stretch>
          </a:blipFill>
        </p:spPr>
      </p:sp>
      <p:sp>
        <p:nvSpPr>
          <p:cNvPr name="Freeform 30" id="30"/>
          <p:cNvSpPr/>
          <p:nvPr/>
        </p:nvSpPr>
        <p:spPr>
          <a:xfrm flipH="false" flipV="false" rot="0">
            <a:off x="25792250" y="13640138"/>
            <a:ext cx="5172821" cy="2576007"/>
          </a:xfrm>
          <a:custGeom>
            <a:avLst/>
            <a:gdLst/>
            <a:ahLst/>
            <a:cxnLst/>
            <a:rect r="r" b="b" t="t" l="l"/>
            <a:pathLst>
              <a:path h="2576007" w="5172821">
                <a:moveTo>
                  <a:pt x="0" y="0"/>
                </a:moveTo>
                <a:lnTo>
                  <a:pt x="5172821" y="0"/>
                </a:lnTo>
                <a:lnTo>
                  <a:pt x="5172821" y="2576007"/>
                </a:lnTo>
                <a:lnTo>
                  <a:pt x="0" y="2576007"/>
                </a:lnTo>
                <a:lnTo>
                  <a:pt x="0" y="0"/>
                </a:lnTo>
                <a:close/>
              </a:path>
            </a:pathLst>
          </a:custGeom>
          <a:blipFill>
            <a:blip r:embed="rId7"/>
            <a:stretch>
              <a:fillRect l="0" t="0" r="0" b="0"/>
            </a:stretch>
          </a:blipFill>
        </p:spPr>
      </p:sp>
      <p:sp>
        <p:nvSpPr>
          <p:cNvPr name="Freeform 31" id="31"/>
          <p:cNvSpPr/>
          <p:nvPr/>
        </p:nvSpPr>
        <p:spPr>
          <a:xfrm flipH="false" flipV="false" rot="0">
            <a:off x="27006706" y="5443451"/>
            <a:ext cx="4150898" cy="4700373"/>
          </a:xfrm>
          <a:custGeom>
            <a:avLst/>
            <a:gdLst/>
            <a:ahLst/>
            <a:cxnLst/>
            <a:rect r="r" b="b" t="t" l="l"/>
            <a:pathLst>
              <a:path h="4700373" w="4150898">
                <a:moveTo>
                  <a:pt x="0" y="0"/>
                </a:moveTo>
                <a:lnTo>
                  <a:pt x="4150898" y="0"/>
                </a:lnTo>
                <a:lnTo>
                  <a:pt x="4150898" y="4700372"/>
                </a:lnTo>
                <a:lnTo>
                  <a:pt x="0" y="4700372"/>
                </a:lnTo>
                <a:lnTo>
                  <a:pt x="0" y="0"/>
                </a:lnTo>
                <a:close/>
              </a:path>
            </a:pathLst>
          </a:custGeom>
          <a:blipFill>
            <a:blip r:embed="rId8"/>
            <a:stretch>
              <a:fillRect l="0" t="-7786" r="0" b="-6777"/>
            </a:stretch>
          </a:blipFill>
        </p:spPr>
      </p:sp>
      <p:sp>
        <p:nvSpPr>
          <p:cNvPr name="Freeform 32" id="32"/>
          <p:cNvSpPr/>
          <p:nvPr/>
        </p:nvSpPr>
        <p:spPr>
          <a:xfrm flipH="false" flipV="false" rot="0">
            <a:off x="9855202" y="33231991"/>
            <a:ext cx="3770818" cy="2559443"/>
          </a:xfrm>
          <a:custGeom>
            <a:avLst/>
            <a:gdLst/>
            <a:ahLst/>
            <a:cxnLst/>
            <a:rect r="r" b="b" t="t" l="l"/>
            <a:pathLst>
              <a:path h="2559443" w="3770818">
                <a:moveTo>
                  <a:pt x="0" y="0"/>
                </a:moveTo>
                <a:lnTo>
                  <a:pt x="3770818" y="0"/>
                </a:lnTo>
                <a:lnTo>
                  <a:pt x="3770818" y="2559443"/>
                </a:lnTo>
                <a:lnTo>
                  <a:pt x="0" y="2559443"/>
                </a:lnTo>
                <a:lnTo>
                  <a:pt x="0" y="0"/>
                </a:lnTo>
                <a:close/>
              </a:path>
            </a:pathLst>
          </a:custGeom>
          <a:blipFill>
            <a:blip r:embed="rId9"/>
            <a:stretch>
              <a:fillRect l="0" t="0" r="0" b="0"/>
            </a:stretch>
          </a:blipFill>
        </p:spPr>
      </p:sp>
      <p:sp>
        <p:nvSpPr>
          <p:cNvPr name="Freeform 33" id="33"/>
          <p:cNvSpPr/>
          <p:nvPr/>
        </p:nvSpPr>
        <p:spPr>
          <a:xfrm flipH="false" flipV="false" rot="0">
            <a:off x="11081948" y="9766304"/>
            <a:ext cx="9443668" cy="7968095"/>
          </a:xfrm>
          <a:custGeom>
            <a:avLst/>
            <a:gdLst/>
            <a:ahLst/>
            <a:cxnLst/>
            <a:rect r="r" b="b" t="t" l="l"/>
            <a:pathLst>
              <a:path h="7968095" w="9443668">
                <a:moveTo>
                  <a:pt x="0" y="0"/>
                </a:moveTo>
                <a:lnTo>
                  <a:pt x="9443668" y="0"/>
                </a:lnTo>
                <a:lnTo>
                  <a:pt x="9443668" y="7968095"/>
                </a:lnTo>
                <a:lnTo>
                  <a:pt x="0" y="7968095"/>
                </a:lnTo>
                <a:lnTo>
                  <a:pt x="0" y="0"/>
                </a:lnTo>
                <a:close/>
              </a:path>
            </a:pathLst>
          </a:custGeom>
          <a:blipFill>
            <a:blip r:embed="rId10"/>
            <a:stretch>
              <a:fillRect l="0" t="0" r="0" b="0"/>
            </a:stretch>
          </a:blipFill>
        </p:spPr>
      </p:sp>
      <p:sp>
        <p:nvSpPr>
          <p:cNvPr name="TextBox 34" id="34"/>
          <p:cNvSpPr txBox="true"/>
          <p:nvPr/>
        </p:nvSpPr>
        <p:spPr>
          <a:xfrm rot="0">
            <a:off x="6983297" y="149728"/>
            <a:ext cx="20180028" cy="1704975"/>
          </a:xfrm>
          <a:prstGeom prst="rect">
            <a:avLst/>
          </a:prstGeom>
        </p:spPr>
        <p:txBody>
          <a:bodyPr anchor="t" rtlCol="false" tIns="0" lIns="0" bIns="0" rIns="0">
            <a:spAutoFit/>
          </a:bodyPr>
          <a:lstStyle/>
          <a:p>
            <a:pPr algn="ctr">
              <a:lnSpc>
                <a:spcPts val="6599"/>
              </a:lnSpc>
            </a:pPr>
            <a:r>
              <a:rPr lang="en-US" sz="5499" b="true">
                <a:solidFill>
                  <a:srgbClr val="004740"/>
                </a:solidFill>
                <a:latin typeface="Poppins Bold"/>
                <a:ea typeface="Poppins Bold"/>
                <a:cs typeface="Poppins Bold"/>
                <a:sym typeface="Poppins Bold"/>
              </a:rPr>
              <a:t>Visual odometry for autonomous vehicles in a constrained environment</a:t>
            </a:r>
          </a:p>
        </p:txBody>
      </p:sp>
      <p:sp>
        <p:nvSpPr>
          <p:cNvPr name="TextBox 35" id="35"/>
          <p:cNvSpPr txBox="true"/>
          <p:nvPr/>
        </p:nvSpPr>
        <p:spPr>
          <a:xfrm rot="0">
            <a:off x="21107400" y="3658569"/>
            <a:ext cx="10610405" cy="597494"/>
          </a:xfrm>
          <a:prstGeom prst="rect">
            <a:avLst/>
          </a:prstGeom>
        </p:spPr>
        <p:txBody>
          <a:bodyPr anchor="t" rtlCol="false" tIns="0" lIns="0" bIns="0" rIns="0">
            <a:spAutoFit/>
          </a:bodyPr>
          <a:lstStyle/>
          <a:p>
            <a:pPr algn="l">
              <a:lnSpc>
                <a:spcPts val="3632"/>
              </a:lnSpc>
            </a:pPr>
            <a:r>
              <a:rPr lang="en-US" sz="5045" b="true">
                <a:solidFill>
                  <a:srgbClr val="F4E4C9"/>
                </a:solidFill>
                <a:latin typeface="Poppins Bold"/>
                <a:ea typeface="Poppins Bold"/>
                <a:cs typeface="Poppins Bold"/>
                <a:sym typeface="Poppins Bold"/>
              </a:rPr>
              <a:t>Supervisor: Dr. Prithvi Sekhar P</a:t>
            </a:r>
          </a:p>
        </p:txBody>
      </p:sp>
      <p:sp>
        <p:nvSpPr>
          <p:cNvPr name="TextBox 36" id="36"/>
          <p:cNvSpPr txBox="true"/>
          <p:nvPr/>
        </p:nvSpPr>
        <p:spPr>
          <a:xfrm rot="0">
            <a:off x="439948" y="3547755"/>
            <a:ext cx="3751210" cy="1067842"/>
          </a:xfrm>
          <a:prstGeom prst="rect">
            <a:avLst/>
          </a:prstGeom>
        </p:spPr>
        <p:txBody>
          <a:bodyPr anchor="t" rtlCol="false" tIns="0" lIns="0" bIns="0" rIns="0">
            <a:spAutoFit/>
          </a:bodyPr>
          <a:lstStyle/>
          <a:p>
            <a:pPr algn="l">
              <a:lnSpc>
                <a:spcPts val="7800"/>
              </a:lnSpc>
            </a:pPr>
            <a:r>
              <a:rPr lang="en-US" sz="6500" b="true">
                <a:solidFill>
                  <a:srgbClr val="004740"/>
                </a:solidFill>
                <a:latin typeface="Poppins Bold"/>
                <a:ea typeface="Poppins Bold"/>
                <a:cs typeface="Poppins Bold"/>
                <a:sym typeface="Poppins Bold"/>
              </a:rPr>
              <a:t>Abstract</a:t>
            </a:r>
          </a:p>
        </p:txBody>
      </p:sp>
      <p:sp>
        <p:nvSpPr>
          <p:cNvPr name="TextBox 37" id="37"/>
          <p:cNvSpPr txBox="true"/>
          <p:nvPr/>
        </p:nvSpPr>
        <p:spPr>
          <a:xfrm rot="0">
            <a:off x="742019" y="19230478"/>
            <a:ext cx="4916761" cy="970927"/>
          </a:xfrm>
          <a:prstGeom prst="rect">
            <a:avLst/>
          </a:prstGeom>
        </p:spPr>
        <p:txBody>
          <a:bodyPr anchor="t" rtlCol="false" tIns="0" lIns="0" bIns="0" rIns="0">
            <a:spAutoFit/>
          </a:bodyPr>
          <a:lstStyle/>
          <a:p>
            <a:pPr algn="l">
              <a:lnSpc>
                <a:spcPts val="7264"/>
              </a:lnSpc>
            </a:pPr>
            <a:r>
              <a:rPr lang="en-US" sz="6054" b="true">
                <a:solidFill>
                  <a:srgbClr val="004740"/>
                </a:solidFill>
                <a:latin typeface="Poppins Bold"/>
                <a:ea typeface="Poppins Bold"/>
                <a:cs typeface="Poppins Bold"/>
                <a:sym typeface="Poppins Bold"/>
              </a:rPr>
              <a:t>Background</a:t>
            </a:r>
          </a:p>
        </p:txBody>
      </p:sp>
      <p:sp>
        <p:nvSpPr>
          <p:cNvPr name="TextBox 38" id="38"/>
          <p:cNvSpPr txBox="true"/>
          <p:nvPr/>
        </p:nvSpPr>
        <p:spPr>
          <a:xfrm rot="0">
            <a:off x="11216640" y="3804916"/>
            <a:ext cx="3739989" cy="1047750"/>
          </a:xfrm>
          <a:prstGeom prst="rect">
            <a:avLst/>
          </a:prstGeom>
        </p:spPr>
        <p:txBody>
          <a:bodyPr anchor="t" rtlCol="false" tIns="0" lIns="0" bIns="0" rIns="0">
            <a:spAutoFit/>
          </a:bodyPr>
          <a:lstStyle/>
          <a:p>
            <a:pPr algn="l">
              <a:lnSpc>
                <a:spcPts val="7800"/>
              </a:lnSpc>
            </a:pPr>
            <a:r>
              <a:rPr lang="en-US" sz="6500" b="true">
                <a:solidFill>
                  <a:srgbClr val="004740"/>
                </a:solidFill>
                <a:latin typeface="Poppins Bold"/>
                <a:ea typeface="Poppins Bold"/>
                <a:cs typeface="Poppins Bold"/>
                <a:sym typeface="Poppins Bold"/>
              </a:rPr>
              <a:t>Methods</a:t>
            </a:r>
          </a:p>
        </p:txBody>
      </p:sp>
      <p:sp>
        <p:nvSpPr>
          <p:cNvPr name="TextBox 39" id="39"/>
          <p:cNvSpPr txBox="true"/>
          <p:nvPr/>
        </p:nvSpPr>
        <p:spPr>
          <a:xfrm rot="0">
            <a:off x="21844671" y="5075213"/>
            <a:ext cx="3132451" cy="1067842"/>
          </a:xfrm>
          <a:prstGeom prst="rect">
            <a:avLst/>
          </a:prstGeom>
        </p:spPr>
        <p:txBody>
          <a:bodyPr anchor="t" rtlCol="false" tIns="0" lIns="0" bIns="0" rIns="0">
            <a:spAutoFit/>
          </a:bodyPr>
          <a:lstStyle/>
          <a:p>
            <a:pPr algn="l">
              <a:lnSpc>
                <a:spcPts val="7800"/>
              </a:lnSpc>
            </a:pPr>
            <a:r>
              <a:rPr lang="en-US" sz="6500" b="true">
                <a:solidFill>
                  <a:srgbClr val="004740"/>
                </a:solidFill>
                <a:latin typeface="Poppins Bold"/>
                <a:ea typeface="Poppins Bold"/>
                <a:cs typeface="Poppins Bold"/>
                <a:sym typeface="Poppins Bold"/>
              </a:rPr>
              <a:t>Results</a:t>
            </a:r>
          </a:p>
        </p:txBody>
      </p:sp>
      <p:sp>
        <p:nvSpPr>
          <p:cNvPr name="TextBox 40" id="40"/>
          <p:cNvSpPr txBox="true"/>
          <p:nvPr/>
        </p:nvSpPr>
        <p:spPr>
          <a:xfrm rot="0">
            <a:off x="14464257" y="23122129"/>
            <a:ext cx="4624658" cy="882722"/>
          </a:xfrm>
          <a:prstGeom prst="rect">
            <a:avLst/>
          </a:prstGeom>
        </p:spPr>
        <p:txBody>
          <a:bodyPr anchor="t" rtlCol="false" tIns="0" lIns="0" bIns="0" rIns="0">
            <a:spAutoFit/>
          </a:bodyPr>
          <a:lstStyle/>
          <a:p>
            <a:pPr algn="l">
              <a:lnSpc>
                <a:spcPts val="6639"/>
              </a:lnSpc>
            </a:pPr>
            <a:r>
              <a:rPr lang="en-US" sz="5532" b="true">
                <a:solidFill>
                  <a:srgbClr val="004740"/>
                </a:solidFill>
                <a:latin typeface="Poppins Bold"/>
                <a:ea typeface="Poppins Bold"/>
                <a:cs typeface="Poppins Bold"/>
                <a:sym typeface="Poppins Bold"/>
              </a:rPr>
              <a:t>Conclusion</a:t>
            </a:r>
          </a:p>
        </p:txBody>
      </p:sp>
      <p:sp>
        <p:nvSpPr>
          <p:cNvPr name="TextBox 41" id="41"/>
          <p:cNvSpPr txBox="true"/>
          <p:nvPr/>
        </p:nvSpPr>
        <p:spPr>
          <a:xfrm rot="0">
            <a:off x="14414796" y="29322386"/>
            <a:ext cx="7165042" cy="882722"/>
          </a:xfrm>
          <a:prstGeom prst="rect">
            <a:avLst/>
          </a:prstGeom>
        </p:spPr>
        <p:txBody>
          <a:bodyPr anchor="t" rtlCol="false" tIns="0" lIns="0" bIns="0" rIns="0">
            <a:spAutoFit/>
          </a:bodyPr>
          <a:lstStyle/>
          <a:p>
            <a:pPr algn="l">
              <a:lnSpc>
                <a:spcPts val="6639"/>
              </a:lnSpc>
            </a:pPr>
            <a:r>
              <a:rPr lang="en-US" sz="5532" b="true">
                <a:solidFill>
                  <a:srgbClr val="004740"/>
                </a:solidFill>
                <a:latin typeface="Poppins Bold"/>
                <a:ea typeface="Poppins Bold"/>
                <a:cs typeface="Poppins Bold"/>
                <a:sym typeface="Poppins Bold"/>
              </a:rPr>
              <a:t>Future Perspectives</a:t>
            </a:r>
          </a:p>
        </p:txBody>
      </p:sp>
      <p:sp>
        <p:nvSpPr>
          <p:cNvPr name="TextBox 42" id="42"/>
          <p:cNvSpPr txBox="true"/>
          <p:nvPr/>
        </p:nvSpPr>
        <p:spPr>
          <a:xfrm rot="0">
            <a:off x="553393" y="2889652"/>
            <a:ext cx="30604211" cy="469013"/>
          </a:xfrm>
          <a:prstGeom prst="rect">
            <a:avLst/>
          </a:prstGeom>
        </p:spPr>
        <p:txBody>
          <a:bodyPr anchor="t" rtlCol="false" tIns="0" lIns="0" bIns="0" rIns="0">
            <a:spAutoFit/>
          </a:bodyPr>
          <a:lstStyle/>
          <a:p>
            <a:pPr algn="ctr">
              <a:lnSpc>
                <a:spcPts val="2952"/>
              </a:lnSpc>
            </a:pPr>
            <a:r>
              <a:rPr lang="en-US" sz="4100" b="true">
                <a:solidFill>
                  <a:srgbClr val="F4E4C9"/>
                </a:solidFill>
                <a:latin typeface="Poppins Bold"/>
                <a:ea typeface="Poppins Bold"/>
                <a:cs typeface="Poppins Bold"/>
                <a:sym typeface="Poppins Bold"/>
              </a:rPr>
              <a:t>Team Members : Thippeswamy K S,  Sai Bharath M ,  M  GopiChand</a:t>
            </a:r>
          </a:p>
        </p:txBody>
      </p:sp>
      <p:sp>
        <p:nvSpPr>
          <p:cNvPr name="TextBox 43" id="43"/>
          <p:cNvSpPr txBox="true"/>
          <p:nvPr/>
        </p:nvSpPr>
        <p:spPr>
          <a:xfrm rot="0">
            <a:off x="621396" y="20329308"/>
            <a:ext cx="13004624" cy="12955032"/>
          </a:xfrm>
          <a:prstGeom prst="rect">
            <a:avLst/>
          </a:prstGeom>
        </p:spPr>
        <p:txBody>
          <a:bodyPr anchor="t" rtlCol="false" tIns="0" lIns="0" bIns="0" rIns="0">
            <a:spAutoFit/>
          </a:bodyPr>
          <a:lstStyle/>
          <a:p>
            <a:pPr algn="l">
              <a:lnSpc>
                <a:spcPts val="5670"/>
              </a:lnSpc>
            </a:pPr>
            <a:r>
              <a:rPr lang="en-US" sz="3150">
                <a:solidFill>
                  <a:srgbClr val="000000"/>
                </a:solidFill>
                <a:latin typeface="Poppins"/>
                <a:ea typeface="Poppins"/>
                <a:cs typeface="Poppins"/>
                <a:sym typeface="Poppins"/>
              </a:rPr>
              <a:t>Modern autonomous vehicles often rely on LiDAR-based navigation for precise localisation and mapping. While LiDAR provides accurate depth perception, it suffers from several limitations:</a:t>
            </a:r>
          </a:p>
          <a:p>
            <a:pPr algn="l" marL="680113" indent="-340056" lvl="1">
              <a:lnSpc>
                <a:spcPts val="5670"/>
              </a:lnSpc>
              <a:buFont typeface="Arial"/>
              <a:buChar char="•"/>
            </a:pPr>
            <a:r>
              <a:rPr lang="en-US" sz="3150">
                <a:solidFill>
                  <a:srgbClr val="000000"/>
                </a:solidFill>
                <a:latin typeface="Poppins"/>
                <a:ea typeface="Poppins"/>
                <a:cs typeface="Poppins"/>
                <a:sym typeface="Poppins"/>
              </a:rPr>
              <a:t>Limited Environmental Understanding: LiDAR captures sparse geometric data but lacks rich visual context (e.g., texture, color, semantics).</a:t>
            </a:r>
          </a:p>
          <a:p>
            <a:pPr algn="l" marL="680113" indent="-340056" lvl="1">
              <a:lnSpc>
                <a:spcPts val="5670"/>
              </a:lnSpc>
              <a:buFont typeface="Arial"/>
              <a:buChar char="•"/>
            </a:pPr>
            <a:r>
              <a:rPr lang="en-US" sz="3150">
                <a:solidFill>
                  <a:srgbClr val="000000"/>
                </a:solidFill>
                <a:latin typeface="Poppins"/>
                <a:ea typeface="Poppins"/>
                <a:cs typeface="Poppins"/>
                <a:sym typeface="Poppins"/>
              </a:rPr>
              <a:t>Reduced Performance in Constrained or Indoor Environments: LiDAR struggles with reflective surfaces, glass walls, or narrow spaces.</a:t>
            </a:r>
          </a:p>
          <a:p>
            <a:pPr algn="l" marL="680113" indent="-340056" lvl="1">
              <a:lnSpc>
                <a:spcPts val="5670"/>
              </a:lnSpc>
              <a:buFont typeface="Arial"/>
              <a:buChar char="•"/>
            </a:pPr>
            <a:r>
              <a:rPr lang="en-US" sz="3150">
                <a:solidFill>
                  <a:srgbClr val="000000"/>
                </a:solidFill>
                <a:latin typeface="Poppins"/>
                <a:ea typeface="Poppins"/>
                <a:cs typeface="Poppins"/>
                <a:sym typeface="Poppins"/>
              </a:rPr>
              <a:t>High Cost: LiDAR sensors are expensive, increasing the overall cost of autonomous systems.</a:t>
            </a:r>
          </a:p>
          <a:p>
            <a:pPr algn="l">
              <a:lnSpc>
                <a:spcPts val="270"/>
              </a:lnSpc>
            </a:pPr>
          </a:p>
          <a:p>
            <a:pPr algn="l">
              <a:lnSpc>
                <a:spcPts val="5670"/>
              </a:lnSpc>
            </a:pPr>
            <a:r>
              <a:rPr lang="en-US" sz="3150">
                <a:solidFill>
                  <a:srgbClr val="000000"/>
                </a:solidFill>
                <a:latin typeface="Poppins"/>
                <a:ea typeface="Poppins"/>
                <a:cs typeface="Poppins"/>
                <a:sym typeface="Poppins"/>
              </a:rPr>
              <a:t>This project focuses on implementing and evaluating Visual Odometry for Autonomous Navigation in constrained environments—such as indoor pathways, parking areas, or dense outdoor spaces—where LiDAR-based systems face challenges. The goal is to enable accurate, cost-efficient, and intelligent navigation using only vision-based inputs.</a:t>
            </a:r>
          </a:p>
        </p:txBody>
      </p:sp>
      <p:sp>
        <p:nvSpPr>
          <p:cNvPr name="TextBox 44" id="44"/>
          <p:cNvSpPr txBox="true"/>
          <p:nvPr/>
        </p:nvSpPr>
        <p:spPr>
          <a:xfrm rot="0">
            <a:off x="14414796" y="24062001"/>
            <a:ext cx="17046461" cy="4086225"/>
          </a:xfrm>
          <a:prstGeom prst="rect">
            <a:avLst/>
          </a:prstGeom>
        </p:spPr>
        <p:txBody>
          <a:bodyPr anchor="t" rtlCol="false" tIns="0" lIns="0" bIns="0" rIns="0">
            <a:spAutoFit/>
          </a:bodyPr>
          <a:lstStyle/>
          <a:p>
            <a:pPr algn="just">
              <a:lnSpc>
                <a:spcPts val="5400"/>
              </a:lnSpc>
            </a:pPr>
            <a:r>
              <a:rPr lang="en-US" sz="3000">
                <a:solidFill>
                  <a:srgbClr val="000000"/>
                </a:solidFill>
                <a:latin typeface="Poppins"/>
                <a:ea typeface="Poppins"/>
                <a:cs typeface="Poppins"/>
                <a:sym typeface="Poppins"/>
              </a:rPr>
              <a:t>Visual odometry enables accurate, real-time localisation and mapping for autonomous robots, vehicles, and AR/VR devices using only visual data. With advancements in calibration, sensor fusion (e.g., with IMUs), and deep learning algorithms, i</a:t>
            </a:r>
            <a:r>
              <a:rPr lang="en-US" sz="3000">
                <a:solidFill>
                  <a:srgbClr val="000000"/>
                </a:solidFill>
                <a:latin typeface="Poppins"/>
                <a:ea typeface="Poppins"/>
                <a:cs typeface="Poppins"/>
                <a:sym typeface="Poppins"/>
              </a:rPr>
              <a:t>t delivers robust performance in diverse environments, overcoming challenges like drift and lighting changes. VO’s versatility makes it essential for future autonomous systems and navigation technologies.</a:t>
            </a:r>
          </a:p>
        </p:txBody>
      </p:sp>
      <p:sp>
        <p:nvSpPr>
          <p:cNvPr name="TextBox 45" id="45"/>
          <p:cNvSpPr txBox="true"/>
          <p:nvPr/>
        </p:nvSpPr>
        <p:spPr>
          <a:xfrm rot="0">
            <a:off x="14464257" y="30144274"/>
            <a:ext cx="16856812" cy="5457825"/>
          </a:xfrm>
          <a:prstGeom prst="rect">
            <a:avLst/>
          </a:prstGeom>
        </p:spPr>
        <p:txBody>
          <a:bodyPr anchor="t" rtlCol="false" tIns="0" lIns="0" bIns="0" rIns="0">
            <a:spAutoFit/>
          </a:bodyPr>
          <a:lstStyle/>
          <a:p>
            <a:pPr algn="just" marL="647700" indent="-323850" lvl="1">
              <a:lnSpc>
                <a:spcPts val="5400"/>
              </a:lnSpc>
              <a:buFont typeface="Arial"/>
              <a:buChar char="•"/>
            </a:pPr>
            <a:r>
              <a:rPr lang="en-US" sz="3000">
                <a:solidFill>
                  <a:srgbClr val="000000"/>
                </a:solidFill>
                <a:latin typeface="Poppins"/>
                <a:ea typeface="Poppins"/>
                <a:cs typeface="Poppins"/>
                <a:sym typeface="Poppins"/>
              </a:rPr>
              <a:t>.Offline Benchmarking: Replay collected buggy ROS bags to test VSLAM algorithms against the LiDAR ground-truth trajectory</a:t>
            </a:r>
          </a:p>
          <a:p>
            <a:pPr algn="just" marL="647700" indent="-323850" lvl="1">
              <a:lnSpc>
                <a:spcPts val="5400"/>
              </a:lnSpc>
              <a:buFont typeface="Arial"/>
              <a:buChar char="•"/>
            </a:pPr>
            <a:r>
              <a:rPr lang="en-US" sz="3000">
                <a:solidFill>
                  <a:srgbClr val="000000"/>
                </a:solidFill>
                <a:latin typeface="Poppins"/>
                <a:ea typeface="Poppins"/>
                <a:cs typeface="Poppins"/>
                <a:sym typeface="Poppins"/>
              </a:rPr>
              <a:t>3D Simulation Upgrade: Upgrade the Gazebo rover simulation to a realistic 3D lunar environment to test the full 3D VSLAM and navigation stack</a:t>
            </a:r>
          </a:p>
          <a:p>
            <a:pPr algn="just" marL="647700" indent="-323850" lvl="1">
              <a:lnSpc>
                <a:spcPts val="5400"/>
              </a:lnSpc>
              <a:buFont typeface="Arial"/>
              <a:buChar char="•"/>
            </a:pPr>
            <a:r>
              <a:rPr lang="en-US" sz="3000">
                <a:solidFill>
                  <a:srgbClr val="000000"/>
                </a:solidFill>
                <a:latin typeface="Poppins"/>
                <a:ea typeface="Poppins"/>
                <a:cs typeface="Poppins"/>
                <a:sym typeface="Poppins"/>
              </a:rPr>
              <a:t>Algorithm Refinement: Re-train deep learning VSLAM models on the buggy's specific dataset to improve domain adaptation and robustness</a:t>
            </a:r>
          </a:p>
          <a:p>
            <a:pPr algn="just" marL="647700" indent="-323850" lvl="1">
              <a:lnSpc>
                <a:spcPts val="5400"/>
              </a:lnSpc>
              <a:buFont typeface="Arial"/>
              <a:buChar char="•"/>
            </a:pPr>
            <a:r>
              <a:rPr lang="en-US" sz="3000">
                <a:solidFill>
                  <a:srgbClr val="000000"/>
                </a:solidFill>
                <a:latin typeface="Poppins"/>
                <a:ea typeface="Poppins"/>
                <a:cs typeface="Poppins"/>
                <a:sym typeface="Poppins"/>
              </a:rPr>
              <a:t>Real-Time Deployment: Optimize (using CUDA/TensorRT) and deploy the validated VSLAM algorithm for live operation on the MAINI buggy's computer.</a:t>
            </a:r>
          </a:p>
        </p:txBody>
      </p:sp>
      <p:sp>
        <p:nvSpPr>
          <p:cNvPr name="TextBox 46" id="46"/>
          <p:cNvSpPr txBox="true"/>
          <p:nvPr/>
        </p:nvSpPr>
        <p:spPr>
          <a:xfrm rot="0">
            <a:off x="21310907" y="16712274"/>
            <a:ext cx="10150350" cy="4810125"/>
          </a:xfrm>
          <a:prstGeom prst="rect">
            <a:avLst/>
          </a:prstGeom>
        </p:spPr>
        <p:txBody>
          <a:bodyPr anchor="t" rtlCol="false" tIns="0" lIns="0" bIns="0" rIns="0">
            <a:spAutoFit/>
          </a:bodyPr>
          <a:lstStyle/>
          <a:p>
            <a:pPr algn="just">
              <a:lnSpc>
                <a:spcPts val="4200"/>
              </a:lnSpc>
            </a:pPr>
            <a:r>
              <a:rPr lang="en-US" sz="3000">
                <a:solidFill>
                  <a:srgbClr val="000000"/>
                </a:solidFill>
                <a:latin typeface="Poppins"/>
                <a:ea typeface="Poppins"/>
                <a:cs typeface="Poppins"/>
                <a:sym typeface="Poppins"/>
              </a:rPr>
              <a:t>These images show the simulation results of an autonomous rover built in ROS 2 an</a:t>
            </a:r>
            <a:r>
              <a:rPr lang="en-US" sz="3000">
                <a:solidFill>
                  <a:srgbClr val="000000"/>
                </a:solidFill>
                <a:latin typeface="Poppins"/>
                <a:ea typeface="Poppins"/>
                <a:cs typeface="Poppins"/>
                <a:sym typeface="Poppins"/>
              </a:rPr>
              <a:t>d Gazebo. The rover uses its 2D LiDAR with the Nav2 stack to perform high-precision localization (AMCL) and autonomous navigation, as shown by the planned path and costmap in RViz. The robot model is also equipped with camera sensors, an IMU, and wheel encoders, which will be used to test and implement Visual Odometry (VO) and VSLAM for 3D navigation.</a:t>
            </a:r>
          </a:p>
        </p:txBody>
      </p:sp>
      <p:sp>
        <p:nvSpPr>
          <p:cNvPr name="TextBox 47" id="47"/>
          <p:cNvSpPr txBox="true"/>
          <p:nvPr/>
        </p:nvSpPr>
        <p:spPr>
          <a:xfrm rot="0">
            <a:off x="11320073" y="4932049"/>
            <a:ext cx="9070851" cy="4472305"/>
          </a:xfrm>
          <a:prstGeom prst="rect">
            <a:avLst/>
          </a:prstGeom>
        </p:spPr>
        <p:txBody>
          <a:bodyPr anchor="t" rtlCol="false" tIns="0" lIns="0" bIns="0" rIns="0">
            <a:spAutoFit/>
          </a:bodyPr>
          <a:lstStyle/>
          <a:p>
            <a:pPr algn="just">
              <a:lnSpc>
                <a:spcPts val="3919"/>
              </a:lnSpc>
            </a:pPr>
            <a:r>
              <a:rPr lang="en-US" sz="2799">
                <a:solidFill>
                  <a:srgbClr val="000000"/>
                </a:solidFill>
                <a:latin typeface="Poppins"/>
                <a:ea typeface="Poppins"/>
                <a:cs typeface="Poppins"/>
                <a:sym typeface="Poppins"/>
              </a:rPr>
              <a:t>The proposed methodology for robust robot navigation begins with a 'Simulation Environment' for model development. It then details the '2D SL</a:t>
            </a:r>
            <a:r>
              <a:rPr lang="en-US" sz="2799">
                <a:solidFill>
                  <a:srgbClr val="000000"/>
                </a:solidFill>
                <a:latin typeface="Poppins"/>
                <a:ea typeface="Poppins"/>
                <a:cs typeface="Poppins"/>
                <a:sym typeface="Poppins"/>
              </a:rPr>
              <a:t>AM &amp; Mapping' process to create detailed maps, leading into '2D Autonomous Navigation' for goal-oriented movement. The diagram concludes by outlining a future vision for '3D VSLAM for Lunar Terrain,' incorporating advanced sensor fusion and true 3D navigation capabilities.</a:t>
            </a:r>
          </a:p>
        </p:txBody>
      </p:sp>
      <p:sp>
        <p:nvSpPr>
          <p:cNvPr name="TextBox 48" id="48"/>
          <p:cNvSpPr txBox="true"/>
          <p:nvPr/>
        </p:nvSpPr>
        <p:spPr>
          <a:xfrm rot="0">
            <a:off x="553393" y="4951099"/>
            <a:ext cx="9590732" cy="11179251"/>
          </a:xfrm>
          <a:prstGeom prst="rect">
            <a:avLst/>
          </a:prstGeom>
        </p:spPr>
        <p:txBody>
          <a:bodyPr anchor="t" rtlCol="false" tIns="0" lIns="0" bIns="0" rIns="0">
            <a:spAutoFit/>
          </a:bodyPr>
          <a:lstStyle/>
          <a:p>
            <a:pPr algn="just">
              <a:lnSpc>
                <a:spcPts val="3832"/>
              </a:lnSpc>
              <a:spcBef>
                <a:spcPct val="0"/>
              </a:spcBef>
            </a:pPr>
            <a:r>
              <a:rPr lang="en-US" sz="3193">
                <a:solidFill>
                  <a:srgbClr val="000000"/>
                </a:solidFill>
                <a:latin typeface="Poppins"/>
                <a:ea typeface="Poppins"/>
                <a:cs typeface="Poppins"/>
                <a:sym typeface="Poppins"/>
              </a:rPr>
              <a:t>Leveraging the foundational perception established by SLAM, the rapid advancement of Visual SLAM (vSLAM) is crucial for enhancing robot perception within dynamic and unstructured environments, such as lunar terrains. This progression necessitates sophisticated integration of visual and range sensors to achieve precise 3D localization and mapping. Traditional 2D approaches often fall short in capturing the full spatial complexity required for true 3D navigation and robust autonomous operations. Therefore, meticulous simulation environments, accurately reflecting real-world physics and sensor characteristics, are paramount for developing, testing, and validating these advanced perception and navigation systems before physical deployment. Such high-fidelity simulations enable comprehensive evaluation of vSLAM algorithms, 3D path planning strategies, and multi-sensor fusion techniques, ensuring optimal performance and safety for future robotic missions.</a:t>
            </a:r>
          </a:p>
        </p:txBody>
      </p:sp>
      <p:sp>
        <p:nvSpPr>
          <p:cNvPr name="TextBox 49" id="49"/>
          <p:cNvSpPr txBox="true"/>
          <p:nvPr/>
        </p:nvSpPr>
        <p:spPr>
          <a:xfrm rot="0">
            <a:off x="21310907" y="10733395"/>
            <a:ext cx="10150350" cy="1609725"/>
          </a:xfrm>
          <a:prstGeom prst="rect">
            <a:avLst/>
          </a:prstGeom>
        </p:spPr>
        <p:txBody>
          <a:bodyPr anchor="t" rtlCol="false" tIns="0" lIns="0" bIns="0" rIns="0">
            <a:spAutoFit/>
          </a:bodyPr>
          <a:lstStyle/>
          <a:p>
            <a:pPr algn="just">
              <a:lnSpc>
                <a:spcPts val="4200"/>
              </a:lnSpc>
            </a:pPr>
            <a:r>
              <a:rPr lang="en-US" sz="3000">
                <a:solidFill>
                  <a:srgbClr val="000000"/>
                </a:solidFill>
                <a:latin typeface="Poppins"/>
                <a:ea typeface="Poppins"/>
                <a:cs typeface="Poppins"/>
                <a:sym typeface="Poppins"/>
              </a:rPr>
              <a:t>The</a:t>
            </a:r>
            <a:r>
              <a:rPr lang="en-US" sz="3000">
                <a:solidFill>
                  <a:srgbClr val="000000"/>
                </a:solidFill>
                <a:latin typeface="Poppins"/>
                <a:ea typeface="Poppins"/>
                <a:cs typeface="Poppins"/>
                <a:sym typeface="Poppins"/>
              </a:rPr>
              <a:t> above image shows the 3D point cloud and the estimated camera poses (indicated by the blue outlines) after generating the 3D model of the object.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DAG3QDnRjEc</dc:identifier>
  <dcterms:modified xsi:type="dcterms:W3CDTF">2011-08-01T06:04:30Z</dcterms:modified>
  <cp:revision>1</cp:revision>
  <dc:title>Poster_Template_UG_students.pptx</dc:title>
</cp:coreProperties>
</file>