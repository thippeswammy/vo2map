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Lst>
  <p:sldSz cy="6858000" cx="12192000"/>
  <p:notesSz cx="6858000" cy="9144000"/>
  <p:embeddedFontLst>
    <p:embeddedFont>
      <p:font typeface="Plus Jakarta Sans"/>
      <p:regular r:id="rId14"/>
      <p:bold r:id="rId15"/>
      <p:italic r:id="rId16"/>
      <p:boldItalic r:id="rId17"/>
    </p:embeddedFont>
    <p:embeddedFont>
      <p:font typeface="Montserrat"/>
      <p:regular r:id="rId18"/>
      <p:bold r:id="rId19"/>
      <p:italic r:id="rId20"/>
      <p:boldItalic r:id="rId21"/>
    </p:embeddedFont>
    <p:embeddedFont>
      <p:font typeface="Montserrat Medium"/>
      <p:regular r:id="rId22"/>
      <p:bold r:id="rId23"/>
      <p:italic r:id="rId24"/>
      <p:boldItalic r:id="rId25"/>
    </p:embeddedFont>
    <p:embeddedFont>
      <p:font typeface="Poppins SemiBold"/>
      <p:regular r:id="rId26"/>
      <p:bold r:id="rId27"/>
      <p:italic r:id="rId28"/>
      <p:boldItalic r:id="rId29"/>
    </p:embeddedFont>
    <p:embeddedFont>
      <p:font typeface="Open Sans"/>
      <p:regular r:id="rId30"/>
      <p:bold r:id="rId31"/>
      <p:italic r:id="rId32"/>
      <p:boldItalic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4" roundtripDataSignature="AMtx7mi/orpEUK7ovrcbzk0uOvQaI9865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Montserrat-italic.fntdata"/><Relationship Id="rId22" Type="http://schemas.openxmlformats.org/officeDocument/2006/relationships/font" Target="fonts/MontserratMedium-regular.fntdata"/><Relationship Id="rId21" Type="http://schemas.openxmlformats.org/officeDocument/2006/relationships/font" Target="fonts/Montserrat-boldItalic.fntdata"/><Relationship Id="rId24" Type="http://schemas.openxmlformats.org/officeDocument/2006/relationships/font" Target="fonts/MontserratMedium-italic.fntdata"/><Relationship Id="rId23" Type="http://schemas.openxmlformats.org/officeDocument/2006/relationships/font" Target="fonts/MontserratMedium-bold.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PoppinsSemiBold-regular.fntdata"/><Relationship Id="rId25" Type="http://schemas.openxmlformats.org/officeDocument/2006/relationships/font" Target="fonts/MontserratMedium-boldItalic.fntdata"/><Relationship Id="rId28" Type="http://schemas.openxmlformats.org/officeDocument/2006/relationships/font" Target="fonts/PoppinsSemiBold-italic.fntdata"/><Relationship Id="rId27" Type="http://schemas.openxmlformats.org/officeDocument/2006/relationships/font" Target="fonts/PoppinsSemiBold-bold.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PoppinsSemiBold-boldItalic.fntdata"/><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OpenSans-bold.fntdata"/><Relationship Id="rId30" Type="http://schemas.openxmlformats.org/officeDocument/2006/relationships/font" Target="fonts/OpenSans-regular.fntdata"/><Relationship Id="rId11" Type="http://schemas.openxmlformats.org/officeDocument/2006/relationships/slide" Target="slides/slide7.xml"/><Relationship Id="rId33" Type="http://schemas.openxmlformats.org/officeDocument/2006/relationships/font" Target="fonts/OpenSans-boldItalic.fntdata"/><Relationship Id="rId10" Type="http://schemas.openxmlformats.org/officeDocument/2006/relationships/slide" Target="slides/slide6.xml"/><Relationship Id="rId32" Type="http://schemas.openxmlformats.org/officeDocument/2006/relationships/font" Target="fonts/OpenSans-italic.fntdata"/><Relationship Id="rId13" Type="http://schemas.openxmlformats.org/officeDocument/2006/relationships/slide" Target="slides/slide9.xml"/><Relationship Id="rId12" Type="http://schemas.openxmlformats.org/officeDocument/2006/relationships/slide" Target="slides/slide8.xml"/><Relationship Id="rId34" Type="http://customschemas.google.com/relationships/presentationmetadata" Target="metadata"/><Relationship Id="rId15" Type="http://schemas.openxmlformats.org/officeDocument/2006/relationships/font" Target="fonts/PlusJakartaSans-bold.fntdata"/><Relationship Id="rId14" Type="http://schemas.openxmlformats.org/officeDocument/2006/relationships/font" Target="fonts/PlusJakartaSans-regular.fntdata"/><Relationship Id="rId17" Type="http://schemas.openxmlformats.org/officeDocument/2006/relationships/font" Target="fonts/PlusJakartaSans-boldItalic.fntdata"/><Relationship Id="rId16" Type="http://schemas.openxmlformats.org/officeDocument/2006/relationships/font" Target="fonts/PlusJakartaSans-italic.fntdata"/><Relationship Id="rId19" Type="http://schemas.openxmlformats.org/officeDocument/2006/relationships/font" Target="fonts/Montserrat-bold.fntdata"/><Relationship Id="rId18" Type="http://schemas.openxmlformats.org/officeDocument/2006/relationships/font" Target="fonts/Montserrat-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Plus Jakarta Sans"/>
                <a:ea typeface="Plus Jakarta Sans"/>
                <a:cs typeface="Plus Jakarta Sans"/>
                <a:sym typeface="Plus Jakarta Sa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Plus Jakarta Sans"/>
                <a:ea typeface="Plus Jakarta Sans"/>
                <a:cs typeface="Plus Jakarta Sans"/>
                <a:sym typeface="Plus Jakarta Sa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Plus Jakarta Sans"/>
                <a:ea typeface="Plus Jakarta Sans"/>
                <a:cs typeface="Plus Jakarta Sans"/>
                <a:sym typeface="Plus Jakarta Sans"/>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Plus Jakarta Sans"/>
                <a:ea typeface="Plus Jakarta Sans"/>
                <a:cs typeface="Plus Jakarta Sans"/>
                <a:sym typeface="Plus Jakarta Sans"/>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Plus Jakarta Sans"/>
                <a:ea typeface="Plus Jakarta Sans"/>
                <a:cs typeface="Plus Jakarta Sans"/>
                <a:sym typeface="Plus Jakarta Sans"/>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Plus Jakarta Sans"/>
                <a:ea typeface="Plus Jakarta Sans"/>
                <a:cs typeface="Plus Jakarta Sans"/>
                <a:sym typeface="Plus Jakarta Sans"/>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Plus Jakarta Sans"/>
                <a:ea typeface="Plus Jakarta Sans"/>
                <a:cs typeface="Plus Jakarta Sans"/>
                <a:sym typeface="Plus Jakarta Sans"/>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Plus Jakarta Sans"/>
                <a:ea typeface="Plus Jakarta Sans"/>
                <a:cs typeface="Plus Jakarta Sans"/>
                <a:sym typeface="Plus Jakarta Sa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Plus Jakarta Sans"/>
                <a:ea typeface="Plus Jakarta Sans"/>
                <a:cs typeface="Plus Jakarta Sans"/>
                <a:sym typeface="Plus Jakarta Sans"/>
              </a:rPr>
              <a:t>‹#›</a:t>
            </a:fld>
            <a:endParaRPr b="0" i="0" sz="1200" u="none" cap="none" strike="noStrike">
              <a:solidFill>
                <a:schemeClr val="dk1"/>
              </a:solidFill>
              <a:latin typeface="Plus Jakarta Sans"/>
              <a:ea typeface="Plus Jakarta Sans"/>
              <a:cs typeface="Plus Jakarta Sans"/>
              <a:sym typeface="Plus Jakarta Sans"/>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 name="Shape 40"/>
        <p:cNvGrpSpPr/>
        <p:nvPr/>
      </p:nvGrpSpPr>
      <p:grpSpPr>
        <a:xfrm>
          <a:off x="0" y="0"/>
          <a:ext cx="0" cy="0"/>
          <a:chOff x="0" y="0"/>
          <a:chExt cx="0" cy="0"/>
        </a:xfrm>
      </p:grpSpPr>
      <p:sp>
        <p:nvSpPr>
          <p:cNvPr id="41" name="Google Shape;41;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 name="Google Shape;4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31a516b0401_3_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 name="Google Shape;62;g31a516b0401_3_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1ae5748121_0_43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 name="Google Shape;72;g31ae5748121_0_4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83c175d9e6_1_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79" name="Google Shape;79;g383c175d9e6_1_2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 name="Google Shape;80;g383c175d9e6_1_2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83c175d9e6_1_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86" name="Google Shape;86;g383c175d9e6_1_4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 name="Google Shape;87;g383c175d9e6_1_4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0ef4e68118_0_4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 name="Google Shape;93;g30ef4e68118_0_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8464e8348c_1_3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0" name="Google Shape;100;g38464e8348c_1_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1ae5748121_0_6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8" name="Google Shape;108;g31ae5748121_0_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2fee63df26b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5" name="Google Shape;115;g2fee63df26b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9_Title Slide">
  <p:cSld name="29_Title Slide">
    <p:spTree>
      <p:nvGrpSpPr>
        <p:cNvPr id="12" name="Shape 12"/>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p:cSld name="1_Title and Content">
    <p:spTree>
      <p:nvGrpSpPr>
        <p:cNvPr id="13" name="Shape 13"/>
        <p:cNvGrpSpPr/>
        <p:nvPr/>
      </p:nvGrpSpPr>
      <p:grpSpPr>
        <a:xfrm>
          <a:off x="0" y="0"/>
          <a:ext cx="0" cy="0"/>
          <a:chOff x="0" y="0"/>
          <a:chExt cx="0" cy="0"/>
        </a:xfrm>
      </p:grpSpPr>
      <p:sp>
        <p:nvSpPr>
          <p:cNvPr id="14" name="Google Shape;14;p4"/>
          <p:cNvSpPr/>
          <p:nvPr>
            <p:ph idx="2" type="pic"/>
          </p:nvPr>
        </p:nvSpPr>
        <p:spPr>
          <a:xfrm>
            <a:off x="1" y="0"/>
            <a:ext cx="12192000" cy="6858000"/>
          </a:xfrm>
          <a:prstGeom prst="rect">
            <a:avLst/>
          </a:prstGeom>
          <a:noFill/>
          <a:ln>
            <a:noFill/>
          </a:ln>
        </p:spPr>
      </p:sp>
      <p:sp>
        <p:nvSpPr>
          <p:cNvPr id="15" name="Google Shape;15;p4"/>
          <p:cNvSpPr txBox="1"/>
          <p:nvPr>
            <p:ph idx="12" type="sldNum"/>
          </p:nvPr>
        </p:nvSpPr>
        <p:spPr>
          <a:xfrm>
            <a:off x="9448799" y="6492875"/>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ustom Layout">
  <p:cSld name="1_Custom Layout">
    <p:spTree>
      <p:nvGrpSpPr>
        <p:cNvPr id="16" name="Shape 16"/>
        <p:cNvGrpSpPr/>
        <p:nvPr/>
      </p:nvGrpSpPr>
      <p:grpSpPr>
        <a:xfrm>
          <a:off x="0" y="0"/>
          <a:ext cx="0" cy="0"/>
          <a:chOff x="0" y="0"/>
          <a:chExt cx="0" cy="0"/>
        </a:xfrm>
      </p:grpSpPr>
      <p:sp>
        <p:nvSpPr>
          <p:cNvPr id="17" name="Google Shape;17;p48"/>
          <p:cNvSpPr/>
          <p:nvPr>
            <p:ph idx="2" type="pic"/>
          </p:nvPr>
        </p:nvSpPr>
        <p:spPr>
          <a:xfrm>
            <a:off x="0" y="0"/>
            <a:ext cx="12192000" cy="6858000"/>
          </a:xfrm>
          <a:prstGeom prst="rect">
            <a:avLst/>
          </a:prstGeom>
          <a:solidFill>
            <a:srgbClr val="F2F2F2"/>
          </a:solidFill>
          <a:ln>
            <a:no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l Content">
  <p:cSld name="General Content">
    <p:spTree>
      <p:nvGrpSpPr>
        <p:cNvPr id="18" name="Shape 18"/>
        <p:cNvGrpSpPr/>
        <p:nvPr/>
      </p:nvGrpSpPr>
      <p:grpSpPr>
        <a:xfrm>
          <a:off x="0" y="0"/>
          <a:ext cx="0" cy="0"/>
          <a:chOff x="0" y="0"/>
          <a:chExt cx="0" cy="0"/>
        </a:xfrm>
      </p:grpSpPr>
      <p:sp>
        <p:nvSpPr>
          <p:cNvPr id="19" name="Google Shape;19;g2f68141a545_0_445"/>
          <p:cNvSpPr/>
          <p:nvPr/>
        </p:nvSpPr>
        <p:spPr>
          <a:xfrm>
            <a:off x="0" y="2689"/>
            <a:ext cx="688500" cy="6858000"/>
          </a:xfrm>
          <a:prstGeom prst="rect">
            <a:avLst/>
          </a:prstGeom>
          <a:solidFill>
            <a:srgbClr val="059AB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0" name="Google Shape;20;g2f68141a545_0_445"/>
          <p:cNvSpPr txBox="1"/>
          <p:nvPr>
            <p:ph type="title"/>
          </p:nvPr>
        </p:nvSpPr>
        <p:spPr>
          <a:xfrm>
            <a:off x="850492" y="245369"/>
            <a:ext cx="7572600" cy="5310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rgbClr val="037692"/>
              </a:buClr>
              <a:buSzPts val="2400"/>
              <a:buFont typeface="Poppins SemiBold"/>
              <a:buNone/>
              <a:defRPr b="0" i="0" sz="2400" u="none" cap="none" strike="noStrike">
                <a:solidFill>
                  <a:srgbClr val="037692"/>
                </a:solidFill>
                <a:latin typeface="Poppins SemiBold"/>
                <a:ea typeface="Poppins SemiBold"/>
                <a:cs typeface="Poppins SemiBold"/>
                <a:sym typeface="Poppins SemiBold"/>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pic>
        <p:nvPicPr>
          <p:cNvPr id="21" name="Google Shape;21;g2f68141a545_0_445"/>
          <p:cNvPicPr preferRelativeResize="0"/>
          <p:nvPr/>
        </p:nvPicPr>
        <p:blipFill rotWithShape="1">
          <a:blip r:embed="rId2">
            <a:alphaModFix/>
          </a:blip>
          <a:srcRect b="0" l="0" r="0" t="0"/>
          <a:stretch/>
        </p:blipFill>
        <p:spPr>
          <a:xfrm flipH="1">
            <a:off x="850490" y="902171"/>
            <a:ext cx="790813" cy="48294"/>
          </a:xfrm>
          <a:prstGeom prst="rect">
            <a:avLst/>
          </a:prstGeom>
          <a:noFill/>
          <a:ln>
            <a:noFill/>
          </a:ln>
        </p:spPr>
      </p:pic>
      <p:pic>
        <p:nvPicPr>
          <p:cNvPr id="22" name="Google Shape;22;g2f68141a545_0_445"/>
          <p:cNvPicPr preferRelativeResize="0"/>
          <p:nvPr/>
        </p:nvPicPr>
        <p:blipFill rotWithShape="1">
          <a:blip r:embed="rId3">
            <a:alphaModFix/>
          </a:blip>
          <a:srcRect b="0" l="0" r="0" t="0"/>
          <a:stretch/>
        </p:blipFill>
        <p:spPr>
          <a:xfrm>
            <a:off x="1010470" y="5707756"/>
            <a:ext cx="805981" cy="904875"/>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5_Title Slide">
  <p:cSld name="25_Title Slide">
    <p:spTree>
      <p:nvGrpSpPr>
        <p:cNvPr id="23" name="Shape 23"/>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4" name="Shape 24"/>
        <p:cNvGrpSpPr/>
        <p:nvPr/>
      </p:nvGrpSpPr>
      <p:grpSpPr>
        <a:xfrm>
          <a:off x="0" y="0"/>
          <a:ext cx="0" cy="0"/>
          <a:chOff x="0" y="0"/>
          <a:chExt cx="0" cy="0"/>
        </a:xfrm>
      </p:grpSpPr>
      <p:sp>
        <p:nvSpPr>
          <p:cNvPr id="25" name="Google Shape;25;g27884b107a2_2_166"/>
          <p:cNvSpPr txBox="1"/>
          <p:nvPr>
            <p:ph type="title"/>
          </p:nvPr>
        </p:nvSpPr>
        <p:spPr>
          <a:xfrm>
            <a:off x="415600" y="593367"/>
            <a:ext cx="11360700" cy="763500"/>
          </a:xfrm>
          <a:prstGeom prst="rect">
            <a:avLst/>
          </a:prstGeom>
          <a:noFill/>
          <a:ln>
            <a:noFill/>
          </a:ln>
        </p:spPr>
        <p:txBody>
          <a:bodyPr anchorCtr="0" anchor="t" bIns="91425" lIns="91425" spcFirstLastPara="1" rIns="91425" wrap="square" tIns="91425">
            <a:normAutofit/>
          </a:bodyPr>
          <a:lstStyle>
            <a:lvl1pPr lvl="0" marR="0" rtl="0" algn="l">
              <a:lnSpc>
                <a:spcPct val="90000"/>
              </a:lnSpc>
              <a:spcBef>
                <a:spcPts val="0"/>
              </a:spcBef>
              <a:spcAft>
                <a:spcPts val="0"/>
              </a:spcAft>
              <a:buClr>
                <a:schemeClr val="dk1"/>
              </a:buClr>
              <a:buSzPts val="2800"/>
              <a:buFont typeface="Arial"/>
              <a:buNone/>
              <a:defRPr b="0" i="0" sz="1400" u="none" cap="none" strike="noStrike">
                <a:solidFill>
                  <a:srgbClr val="000000"/>
                </a:solidFill>
                <a:latin typeface="Aharoni"/>
                <a:ea typeface="Aharoni"/>
                <a:cs typeface="Aharoni"/>
                <a:sym typeface="Aharoni"/>
              </a:defRPr>
            </a:lvl1pPr>
            <a:lvl2pPr lvl="1" marR="0" rtl="0" algn="l">
              <a:lnSpc>
                <a:spcPct val="100000"/>
              </a:lnSpc>
              <a:spcBef>
                <a:spcPts val="0"/>
              </a:spcBef>
              <a:spcAft>
                <a:spcPts val="0"/>
              </a:spcAft>
              <a:buClr>
                <a:srgbClr val="000000"/>
              </a:buClr>
              <a:buSzPts val="28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28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28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28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28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28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28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2800"/>
              <a:buFont typeface="Arial"/>
              <a:buNone/>
              <a:defRPr b="0" i="0" sz="1400" u="none" cap="none" strike="noStrike">
                <a:solidFill>
                  <a:srgbClr val="000000"/>
                </a:solidFill>
                <a:latin typeface="Arial"/>
                <a:ea typeface="Arial"/>
                <a:cs typeface="Arial"/>
                <a:sym typeface="Arial"/>
              </a:defRPr>
            </a:lvl9pPr>
          </a:lstStyle>
          <a:p/>
        </p:txBody>
      </p:sp>
      <p:sp>
        <p:nvSpPr>
          <p:cNvPr id="26" name="Google Shape;26;g27884b107a2_2_166"/>
          <p:cNvSpPr txBox="1"/>
          <p:nvPr>
            <p:ph idx="1" type="body"/>
          </p:nvPr>
        </p:nvSpPr>
        <p:spPr>
          <a:xfrm>
            <a:off x="415600" y="1536633"/>
            <a:ext cx="11360700" cy="45552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20000"/>
              </a:lnSpc>
              <a:spcBef>
                <a:spcPts val="0"/>
              </a:spcBef>
              <a:spcAft>
                <a:spcPts val="0"/>
              </a:spcAft>
              <a:buClr>
                <a:schemeClr val="dk1"/>
              </a:buClr>
              <a:buSzPts val="1800"/>
              <a:buFont typeface="Arial"/>
              <a:buChar char="●"/>
              <a:defRPr b="0" i="0" sz="1400" u="none" cap="none" strike="noStrike">
                <a:solidFill>
                  <a:srgbClr val="000000"/>
                </a:solidFill>
                <a:latin typeface="Aharoni"/>
                <a:ea typeface="Aharoni"/>
                <a:cs typeface="Aharoni"/>
                <a:sym typeface="Aharoni"/>
              </a:defRPr>
            </a:lvl1pPr>
            <a:lvl2pPr indent="-317500" lvl="1" marL="914400" marR="0" rtl="0" algn="l">
              <a:lnSpc>
                <a:spcPct val="120000"/>
              </a:lnSpc>
              <a:spcBef>
                <a:spcPts val="0"/>
              </a:spcBef>
              <a:spcAft>
                <a:spcPts val="0"/>
              </a:spcAft>
              <a:buClr>
                <a:schemeClr val="dk1"/>
              </a:buClr>
              <a:buSzPts val="1400"/>
              <a:buFont typeface="Arial"/>
              <a:buChar char="○"/>
              <a:defRPr b="0" i="0" sz="1400" u="none" cap="none" strike="noStrike">
                <a:solidFill>
                  <a:srgbClr val="000000"/>
                </a:solidFill>
                <a:latin typeface="Arial"/>
                <a:ea typeface="Arial"/>
                <a:cs typeface="Arial"/>
                <a:sym typeface="Arial"/>
              </a:defRPr>
            </a:lvl2pPr>
            <a:lvl3pPr indent="-317500" lvl="2" marL="1371600" marR="0" rtl="0" algn="l">
              <a:lnSpc>
                <a:spcPct val="120000"/>
              </a:lnSpc>
              <a:spcBef>
                <a:spcPts val="0"/>
              </a:spcBef>
              <a:spcAft>
                <a:spcPts val="0"/>
              </a:spcAft>
              <a:buClr>
                <a:schemeClr val="dk1"/>
              </a:buClr>
              <a:buSzPts val="1400"/>
              <a:buFont typeface="Arial"/>
              <a:buChar char="■"/>
              <a:defRPr b="0" i="0" sz="1400" u="none" cap="none" strike="noStrike">
                <a:solidFill>
                  <a:srgbClr val="000000"/>
                </a:solidFill>
                <a:latin typeface="Arial"/>
                <a:ea typeface="Arial"/>
                <a:cs typeface="Arial"/>
                <a:sym typeface="Arial"/>
              </a:defRPr>
            </a:lvl3pPr>
            <a:lvl4pPr indent="-317500" lvl="3" marL="1828800" marR="0" rtl="0" algn="l">
              <a:lnSpc>
                <a:spcPct val="120000"/>
              </a:lnSpc>
              <a:spcBef>
                <a:spcPts val="0"/>
              </a:spcBef>
              <a:spcAft>
                <a:spcPts val="0"/>
              </a:spcAft>
              <a:buClr>
                <a:schemeClr val="dk1"/>
              </a:buClr>
              <a:buSzPts val="1400"/>
              <a:buFont typeface="Arial"/>
              <a:buChar char="●"/>
              <a:defRPr b="0" i="0" sz="1400" u="none" cap="none" strike="noStrike">
                <a:solidFill>
                  <a:srgbClr val="000000"/>
                </a:solidFill>
                <a:latin typeface="Arial"/>
                <a:ea typeface="Arial"/>
                <a:cs typeface="Arial"/>
                <a:sym typeface="Arial"/>
              </a:defRPr>
            </a:lvl4pPr>
            <a:lvl5pPr indent="-317500" lvl="4" marL="2286000" marR="0" rtl="0" algn="l">
              <a:lnSpc>
                <a:spcPct val="120000"/>
              </a:lnSpc>
              <a:spcBef>
                <a:spcPts val="0"/>
              </a:spcBef>
              <a:spcAft>
                <a:spcPts val="0"/>
              </a:spcAft>
              <a:buClr>
                <a:schemeClr val="dk1"/>
              </a:buClr>
              <a:buSzPts val="1400"/>
              <a:buFont typeface="Arial"/>
              <a:buChar char="○"/>
              <a:defRPr b="0" i="0" sz="1400" u="none" cap="none" strike="noStrike">
                <a:solidFill>
                  <a:srgbClr val="000000"/>
                </a:solidFill>
                <a:latin typeface="Arial"/>
                <a:ea typeface="Arial"/>
                <a:cs typeface="Arial"/>
                <a:sym typeface="Arial"/>
              </a:defRPr>
            </a:lvl5pPr>
            <a:lvl6pPr indent="-317500" lvl="5" marL="2743200" marR="0" rtl="0" algn="l">
              <a:lnSpc>
                <a:spcPct val="90000"/>
              </a:lnSpc>
              <a:spcBef>
                <a:spcPts val="0"/>
              </a:spcBef>
              <a:spcAft>
                <a:spcPts val="0"/>
              </a:spcAft>
              <a:buClr>
                <a:schemeClr val="dk1"/>
              </a:buClr>
              <a:buSzPts val="1400"/>
              <a:buFont typeface="Arial"/>
              <a:buChar char="■"/>
              <a:defRPr b="0" i="0" sz="1400" u="none" cap="none" strike="noStrike">
                <a:solidFill>
                  <a:srgbClr val="000000"/>
                </a:solidFill>
                <a:latin typeface="Arial"/>
                <a:ea typeface="Arial"/>
                <a:cs typeface="Arial"/>
                <a:sym typeface="Arial"/>
              </a:defRPr>
            </a:lvl6pPr>
            <a:lvl7pPr indent="-317500" lvl="6" marL="3200400" marR="0" rtl="0" algn="l">
              <a:lnSpc>
                <a:spcPct val="90000"/>
              </a:lnSpc>
              <a:spcBef>
                <a:spcPts val="0"/>
              </a:spcBef>
              <a:spcAft>
                <a:spcPts val="0"/>
              </a:spcAft>
              <a:buClr>
                <a:schemeClr val="dk1"/>
              </a:buClr>
              <a:buSzPts val="1400"/>
              <a:buFont typeface="Arial"/>
              <a:buChar char="●"/>
              <a:defRPr b="0" i="0" sz="1400" u="none" cap="none" strike="noStrike">
                <a:solidFill>
                  <a:srgbClr val="000000"/>
                </a:solidFill>
                <a:latin typeface="Arial"/>
                <a:ea typeface="Arial"/>
                <a:cs typeface="Arial"/>
                <a:sym typeface="Arial"/>
              </a:defRPr>
            </a:lvl7pPr>
            <a:lvl8pPr indent="-317500" lvl="7" marL="3657600" marR="0" rtl="0" algn="l">
              <a:lnSpc>
                <a:spcPct val="90000"/>
              </a:lnSpc>
              <a:spcBef>
                <a:spcPts val="0"/>
              </a:spcBef>
              <a:spcAft>
                <a:spcPts val="0"/>
              </a:spcAft>
              <a:buClr>
                <a:schemeClr val="dk1"/>
              </a:buClr>
              <a:buSzPts val="1400"/>
              <a:buFont typeface="Arial"/>
              <a:buChar char="○"/>
              <a:defRPr b="0" i="0" sz="1400" u="none" cap="none" strike="noStrike">
                <a:solidFill>
                  <a:srgbClr val="000000"/>
                </a:solidFill>
                <a:latin typeface="Arial"/>
                <a:ea typeface="Arial"/>
                <a:cs typeface="Arial"/>
                <a:sym typeface="Arial"/>
              </a:defRPr>
            </a:lvl8pPr>
            <a:lvl9pPr indent="-317500" lvl="8" marL="4114800" marR="0" rtl="0" algn="l">
              <a:lnSpc>
                <a:spcPct val="90000"/>
              </a:lnSpc>
              <a:spcBef>
                <a:spcPts val="0"/>
              </a:spcBef>
              <a:spcAft>
                <a:spcPts val="0"/>
              </a:spcAft>
              <a:buClr>
                <a:schemeClr val="dk1"/>
              </a:buClr>
              <a:buSzPts val="1400"/>
              <a:buFont typeface="Arial"/>
              <a:buChar char="■"/>
              <a:defRPr b="0" i="0" sz="1400" u="none" cap="none" strike="noStrike">
                <a:solidFill>
                  <a:srgbClr val="000000"/>
                </a:solidFill>
                <a:latin typeface="Arial"/>
                <a:ea typeface="Arial"/>
                <a:cs typeface="Arial"/>
                <a:sym typeface="Arial"/>
              </a:defRPr>
            </a:lvl9pPr>
          </a:lstStyle>
          <a:p/>
        </p:txBody>
      </p:sp>
      <p:sp>
        <p:nvSpPr>
          <p:cNvPr id="27" name="Google Shape;27;g27884b107a2_2_166"/>
          <p:cNvSpPr txBox="1"/>
          <p:nvPr>
            <p:ph idx="12" type="sldNum"/>
          </p:nvPr>
        </p:nvSpPr>
        <p:spPr>
          <a:xfrm>
            <a:off x="11296611" y="6217623"/>
            <a:ext cx="731700" cy="5247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chemeClr val="dk1"/>
              </a:buClr>
              <a:buSzPts val="900"/>
              <a:buFont typeface="Arial"/>
              <a:buNone/>
              <a:defRPr b="0" i="0" sz="900" u="none" cap="none" strike="noStrike">
                <a:solidFill>
                  <a:schemeClr val="dk1"/>
                </a:solidFill>
                <a:latin typeface="Aharoni"/>
                <a:ea typeface="Aharoni"/>
                <a:cs typeface="Aharoni"/>
                <a:sym typeface="Aharoni"/>
              </a:defRPr>
            </a:lvl1pPr>
            <a:lvl2pPr indent="0" lvl="1" marL="0" marR="0" rtl="0" algn="r">
              <a:lnSpc>
                <a:spcPct val="100000"/>
              </a:lnSpc>
              <a:spcBef>
                <a:spcPts val="0"/>
              </a:spcBef>
              <a:spcAft>
                <a:spcPts val="0"/>
              </a:spcAft>
              <a:buClr>
                <a:schemeClr val="dk1"/>
              </a:buClr>
              <a:buSzPts val="900"/>
              <a:buFont typeface="Arial"/>
              <a:buNone/>
              <a:defRPr b="0" i="0" sz="900" u="none" cap="none" strike="noStrike">
                <a:solidFill>
                  <a:schemeClr val="dk1"/>
                </a:solidFill>
                <a:latin typeface="Aharoni"/>
                <a:ea typeface="Aharoni"/>
                <a:cs typeface="Aharoni"/>
                <a:sym typeface="Aharoni"/>
              </a:defRPr>
            </a:lvl2pPr>
            <a:lvl3pPr indent="0" lvl="2" marL="0" marR="0" rtl="0" algn="r">
              <a:lnSpc>
                <a:spcPct val="100000"/>
              </a:lnSpc>
              <a:spcBef>
                <a:spcPts val="0"/>
              </a:spcBef>
              <a:spcAft>
                <a:spcPts val="0"/>
              </a:spcAft>
              <a:buClr>
                <a:schemeClr val="dk1"/>
              </a:buClr>
              <a:buSzPts val="900"/>
              <a:buFont typeface="Arial"/>
              <a:buNone/>
              <a:defRPr b="0" i="0" sz="900" u="none" cap="none" strike="noStrike">
                <a:solidFill>
                  <a:schemeClr val="dk1"/>
                </a:solidFill>
                <a:latin typeface="Aharoni"/>
                <a:ea typeface="Aharoni"/>
                <a:cs typeface="Aharoni"/>
                <a:sym typeface="Aharoni"/>
              </a:defRPr>
            </a:lvl3pPr>
            <a:lvl4pPr indent="0" lvl="3" marL="0" marR="0" rtl="0" algn="r">
              <a:lnSpc>
                <a:spcPct val="100000"/>
              </a:lnSpc>
              <a:spcBef>
                <a:spcPts val="0"/>
              </a:spcBef>
              <a:spcAft>
                <a:spcPts val="0"/>
              </a:spcAft>
              <a:buClr>
                <a:schemeClr val="dk1"/>
              </a:buClr>
              <a:buSzPts val="900"/>
              <a:buFont typeface="Arial"/>
              <a:buNone/>
              <a:defRPr b="0" i="0" sz="900" u="none" cap="none" strike="noStrike">
                <a:solidFill>
                  <a:schemeClr val="dk1"/>
                </a:solidFill>
                <a:latin typeface="Aharoni"/>
                <a:ea typeface="Aharoni"/>
                <a:cs typeface="Aharoni"/>
                <a:sym typeface="Aharoni"/>
              </a:defRPr>
            </a:lvl4pPr>
            <a:lvl5pPr indent="0" lvl="4" marL="0" marR="0" rtl="0" algn="r">
              <a:lnSpc>
                <a:spcPct val="100000"/>
              </a:lnSpc>
              <a:spcBef>
                <a:spcPts val="0"/>
              </a:spcBef>
              <a:spcAft>
                <a:spcPts val="0"/>
              </a:spcAft>
              <a:buClr>
                <a:schemeClr val="dk1"/>
              </a:buClr>
              <a:buSzPts val="900"/>
              <a:buFont typeface="Arial"/>
              <a:buNone/>
              <a:defRPr b="0" i="0" sz="900" u="none" cap="none" strike="noStrike">
                <a:solidFill>
                  <a:schemeClr val="dk1"/>
                </a:solidFill>
                <a:latin typeface="Aharoni"/>
                <a:ea typeface="Aharoni"/>
                <a:cs typeface="Aharoni"/>
                <a:sym typeface="Aharoni"/>
              </a:defRPr>
            </a:lvl5pPr>
            <a:lvl6pPr indent="0" lvl="5" marL="0" marR="0" rtl="0" algn="r">
              <a:lnSpc>
                <a:spcPct val="100000"/>
              </a:lnSpc>
              <a:spcBef>
                <a:spcPts val="0"/>
              </a:spcBef>
              <a:spcAft>
                <a:spcPts val="0"/>
              </a:spcAft>
              <a:buClr>
                <a:schemeClr val="dk1"/>
              </a:buClr>
              <a:buSzPts val="900"/>
              <a:buFont typeface="Arial"/>
              <a:buNone/>
              <a:defRPr b="0" i="0" sz="900" u="none" cap="none" strike="noStrike">
                <a:solidFill>
                  <a:schemeClr val="dk1"/>
                </a:solidFill>
                <a:latin typeface="Aharoni"/>
                <a:ea typeface="Aharoni"/>
                <a:cs typeface="Aharoni"/>
                <a:sym typeface="Aharoni"/>
              </a:defRPr>
            </a:lvl6pPr>
            <a:lvl7pPr indent="0" lvl="6" marL="0" marR="0" rtl="0" algn="r">
              <a:lnSpc>
                <a:spcPct val="100000"/>
              </a:lnSpc>
              <a:spcBef>
                <a:spcPts val="0"/>
              </a:spcBef>
              <a:spcAft>
                <a:spcPts val="0"/>
              </a:spcAft>
              <a:buClr>
                <a:schemeClr val="dk1"/>
              </a:buClr>
              <a:buSzPts val="900"/>
              <a:buFont typeface="Arial"/>
              <a:buNone/>
              <a:defRPr b="0" i="0" sz="900" u="none" cap="none" strike="noStrike">
                <a:solidFill>
                  <a:schemeClr val="dk1"/>
                </a:solidFill>
                <a:latin typeface="Aharoni"/>
                <a:ea typeface="Aharoni"/>
                <a:cs typeface="Aharoni"/>
                <a:sym typeface="Aharoni"/>
              </a:defRPr>
            </a:lvl7pPr>
            <a:lvl8pPr indent="0" lvl="7" marL="0" marR="0" rtl="0" algn="r">
              <a:lnSpc>
                <a:spcPct val="100000"/>
              </a:lnSpc>
              <a:spcBef>
                <a:spcPts val="0"/>
              </a:spcBef>
              <a:spcAft>
                <a:spcPts val="0"/>
              </a:spcAft>
              <a:buClr>
                <a:schemeClr val="dk1"/>
              </a:buClr>
              <a:buSzPts val="900"/>
              <a:buFont typeface="Arial"/>
              <a:buNone/>
              <a:defRPr b="0" i="0" sz="900" u="none" cap="none" strike="noStrike">
                <a:solidFill>
                  <a:schemeClr val="dk1"/>
                </a:solidFill>
                <a:latin typeface="Aharoni"/>
                <a:ea typeface="Aharoni"/>
                <a:cs typeface="Aharoni"/>
                <a:sym typeface="Aharoni"/>
              </a:defRPr>
            </a:lvl8pPr>
            <a:lvl9pPr indent="0" lvl="8" marL="0" marR="0" rtl="0" algn="r">
              <a:lnSpc>
                <a:spcPct val="100000"/>
              </a:lnSpc>
              <a:spcBef>
                <a:spcPts val="0"/>
              </a:spcBef>
              <a:spcAft>
                <a:spcPts val="0"/>
              </a:spcAft>
              <a:buClr>
                <a:schemeClr val="dk1"/>
              </a:buClr>
              <a:buSzPts val="900"/>
              <a:buFont typeface="Arial"/>
              <a:buNone/>
              <a:defRPr b="0" i="0" sz="900" u="none" cap="none" strike="noStrike">
                <a:solidFill>
                  <a:schemeClr val="dk1"/>
                </a:solidFill>
                <a:latin typeface="Aharoni"/>
                <a:ea typeface="Aharoni"/>
                <a:cs typeface="Aharoni"/>
                <a:sym typeface="Aharon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28" name="Shape 28"/>
        <p:cNvGrpSpPr/>
        <p:nvPr/>
      </p:nvGrpSpPr>
      <p:grpSpPr>
        <a:xfrm>
          <a:off x="0" y="0"/>
          <a:ext cx="0" cy="0"/>
          <a:chOff x="0" y="0"/>
          <a:chExt cx="0" cy="0"/>
        </a:xfrm>
      </p:grpSpPr>
      <p:sp>
        <p:nvSpPr>
          <p:cNvPr id="29" name="Google Shape;29;g27884b107a2_0_178"/>
          <p:cNvSpPr/>
          <p:nvPr>
            <p:ph idx="2" type="pic"/>
          </p:nvPr>
        </p:nvSpPr>
        <p:spPr>
          <a:xfrm>
            <a:off x="1055687" y="1268413"/>
            <a:ext cx="4319700" cy="5040300"/>
          </a:xfrm>
          <a:prstGeom prst="rect">
            <a:avLst/>
          </a:prstGeom>
          <a:solidFill>
            <a:srgbClr val="F2F2F2"/>
          </a:solidFill>
          <a:ln>
            <a:no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2_Title Slide">
  <p:cSld name="32_Title Slide">
    <p:spTree>
      <p:nvGrpSpPr>
        <p:cNvPr id="30" name="Shape 30"/>
        <p:cNvGrpSpPr/>
        <p:nvPr/>
      </p:nvGrpSpPr>
      <p:grpSpPr>
        <a:xfrm>
          <a:off x="0" y="0"/>
          <a:ext cx="0" cy="0"/>
          <a:chOff x="0" y="0"/>
          <a:chExt cx="0" cy="0"/>
        </a:xfrm>
      </p:grpSpPr>
      <p:sp>
        <p:nvSpPr>
          <p:cNvPr id="31" name="Google Shape;31;p85"/>
          <p:cNvSpPr/>
          <p:nvPr/>
        </p:nvSpPr>
        <p:spPr>
          <a:xfrm>
            <a:off x="6096000" y="3753134"/>
            <a:ext cx="6096000" cy="2555591"/>
          </a:xfrm>
          <a:prstGeom prst="rect">
            <a:avLst/>
          </a:prstGeom>
          <a:gradFill>
            <a:gsLst>
              <a:gs pos="0">
                <a:schemeClr val="accent2"/>
              </a:gs>
              <a:gs pos="96000">
                <a:srgbClr val="EA641A"/>
              </a:gs>
              <a:gs pos="100000">
                <a:srgbClr val="EA641A"/>
              </a:gs>
            </a:gsLst>
            <a:lin ang="54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lus Jakarta Sans"/>
              <a:ea typeface="Plus Jakarta Sans"/>
              <a:cs typeface="Plus Jakarta Sans"/>
              <a:sym typeface="Plus Jakarta Sans"/>
            </a:endParaRPr>
          </a:p>
        </p:txBody>
      </p:sp>
      <p:sp>
        <p:nvSpPr>
          <p:cNvPr id="32" name="Google Shape;32;p85"/>
          <p:cNvSpPr/>
          <p:nvPr>
            <p:ph idx="2" type="pic"/>
          </p:nvPr>
        </p:nvSpPr>
        <p:spPr>
          <a:xfrm>
            <a:off x="6816725" y="1268413"/>
            <a:ext cx="2381023" cy="2976935"/>
          </a:xfrm>
          <a:prstGeom prst="rect">
            <a:avLst/>
          </a:prstGeom>
          <a:solidFill>
            <a:srgbClr val="F2F2F2"/>
          </a:solidFill>
          <a:ln>
            <a:noFill/>
          </a:ln>
        </p:spPr>
      </p:sp>
      <p:sp>
        <p:nvSpPr>
          <p:cNvPr id="33" name="Google Shape;33;p85"/>
          <p:cNvSpPr/>
          <p:nvPr>
            <p:ph idx="3" type="pic"/>
          </p:nvPr>
        </p:nvSpPr>
        <p:spPr>
          <a:xfrm>
            <a:off x="9476015" y="1268413"/>
            <a:ext cx="2381023" cy="2976935"/>
          </a:xfrm>
          <a:prstGeom prst="rect">
            <a:avLst/>
          </a:prstGeom>
          <a:solidFill>
            <a:srgbClr val="F2F2F2"/>
          </a:solidFill>
          <a:ln>
            <a:no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4" name="Shape 34"/>
        <p:cNvGrpSpPr/>
        <p:nvPr/>
      </p:nvGrpSpPr>
      <p:grpSpPr>
        <a:xfrm>
          <a:off x="0" y="0"/>
          <a:ext cx="0" cy="0"/>
          <a:chOff x="0" y="0"/>
          <a:chExt cx="0" cy="0"/>
        </a:xfrm>
      </p:grpSpPr>
      <p:sp>
        <p:nvSpPr>
          <p:cNvPr id="35" name="Google Shape;35;g27884b107a2_0_115"/>
          <p:cNvSpPr txBox="1"/>
          <p:nvPr>
            <p:ph type="ctrTitle"/>
          </p:nvPr>
        </p:nvSpPr>
        <p:spPr>
          <a:xfrm>
            <a:off x="1524000" y="1122363"/>
            <a:ext cx="9144000" cy="2387700"/>
          </a:xfrm>
          <a:prstGeom prst="rect">
            <a:avLst/>
          </a:prstGeom>
          <a:noFill/>
          <a:ln>
            <a:noFill/>
          </a:ln>
        </p:spPr>
        <p:txBody>
          <a:bodyPr anchorCtr="0" anchor="b" bIns="45700" lIns="91425" spcFirstLastPara="1" rIns="91425" wrap="square" tIns="45700">
            <a:normAutofit/>
          </a:bodyPr>
          <a:lstStyle>
            <a:lvl1pPr lvl="0" marR="0" rtl="0" algn="ctr">
              <a:lnSpc>
                <a:spcPct val="90000"/>
              </a:lnSpc>
              <a:spcBef>
                <a:spcPts val="0"/>
              </a:spcBef>
              <a:spcAft>
                <a:spcPts val="0"/>
              </a:spcAft>
              <a:buClr>
                <a:schemeClr val="dk1"/>
              </a:buClr>
              <a:buSzPts val="6000"/>
              <a:buFont typeface="Calibri"/>
              <a:buChar char="●"/>
              <a:defRPr b="0" i="0" sz="6000" u="none" cap="none" strike="noStrike">
                <a:solidFill>
                  <a:srgbClr val="000000"/>
                </a:solidFill>
                <a:latin typeface="Aharoni"/>
                <a:ea typeface="Aharoni"/>
                <a:cs typeface="Aharoni"/>
                <a:sym typeface="Aharoni"/>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36" name="Google Shape;36;g27884b107a2_0_115"/>
          <p:cNvSpPr txBox="1"/>
          <p:nvPr>
            <p:ph idx="1" type="subTitle"/>
          </p:nvPr>
        </p:nvSpPr>
        <p:spPr>
          <a:xfrm>
            <a:off x="1524000" y="3602038"/>
            <a:ext cx="9144000" cy="1655700"/>
          </a:xfrm>
          <a:prstGeom prst="rect">
            <a:avLst/>
          </a:prstGeom>
          <a:noFill/>
          <a:ln>
            <a:noFill/>
          </a:ln>
        </p:spPr>
        <p:txBody>
          <a:bodyPr anchorCtr="0" anchor="t" bIns="45700" lIns="91425" spcFirstLastPara="1" rIns="91425" wrap="square" tIns="45700">
            <a:normAutofit/>
          </a:bodyPr>
          <a:lstStyle>
            <a:lvl1pPr lvl="0" marR="0" rtl="0" algn="ctr">
              <a:lnSpc>
                <a:spcPct val="90000"/>
              </a:lnSpc>
              <a:spcBef>
                <a:spcPts val="1000"/>
              </a:spcBef>
              <a:spcAft>
                <a:spcPts val="0"/>
              </a:spcAft>
              <a:buClr>
                <a:schemeClr val="dk1"/>
              </a:buClr>
              <a:buSzPts val="2400"/>
              <a:buFont typeface="Arial"/>
              <a:buNone/>
              <a:defRPr b="0" i="0" sz="2400" u="none" cap="none" strike="noStrike">
                <a:solidFill>
                  <a:srgbClr val="000000"/>
                </a:solidFill>
                <a:latin typeface="Aharoni"/>
                <a:ea typeface="Aharoni"/>
                <a:cs typeface="Aharoni"/>
                <a:sym typeface="Aharoni"/>
              </a:defRPr>
            </a:lvl1pPr>
            <a:lvl2pPr lvl="1" marR="0" rtl="0" algn="ctr">
              <a:lnSpc>
                <a:spcPct val="90000"/>
              </a:lnSpc>
              <a:spcBef>
                <a:spcPts val="500"/>
              </a:spcBef>
              <a:spcAft>
                <a:spcPts val="0"/>
              </a:spcAft>
              <a:buClr>
                <a:schemeClr val="dk1"/>
              </a:buClr>
              <a:buSzPts val="2000"/>
              <a:buFont typeface="Arial"/>
              <a:buNone/>
              <a:defRPr b="0" i="0" sz="2000" u="none" cap="none" strike="noStrike">
                <a:solidFill>
                  <a:srgbClr val="000000"/>
                </a:solidFill>
                <a:latin typeface="Arial"/>
                <a:ea typeface="Arial"/>
                <a:cs typeface="Arial"/>
                <a:sym typeface="Arial"/>
              </a:defRPr>
            </a:lvl2pPr>
            <a:lvl3pPr lvl="2" marR="0" rtl="0" algn="ctr">
              <a:lnSpc>
                <a:spcPct val="90000"/>
              </a:lnSpc>
              <a:spcBef>
                <a:spcPts val="500"/>
              </a:spcBef>
              <a:spcAft>
                <a:spcPts val="0"/>
              </a:spcAft>
              <a:buClr>
                <a:schemeClr val="dk1"/>
              </a:buClr>
              <a:buSzPts val="1800"/>
              <a:buFont typeface="Arial"/>
              <a:buNone/>
              <a:defRPr b="0" i="0" sz="1800" u="none" cap="none" strike="noStrike">
                <a:solidFill>
                  <a:srgbClr val="000000"/>
                </a:solidFill>
                <a:latin typeface="Arial"/>
                <a:ea typeface="Arial"/>
                <a:cs typeface="Arial"/>
                <a:sym typeface="Arial"/>
              </a:defRPr>
            </a:lvl3pPr>
            <a:lvl4pPr lvl="3" marR="0" rtl="0" algn="ctr">
              <a:lnSpc>
                <a:spcPct val="90000"/>
              </a:lnSpc>
              <a:spcBef>
                <a:spcPts val="500"/>
              </a:spcBef>
              <a:spcAft>
                <a:spcPts val="0"/>
              </a:spcAft>
              <a:buClr>
                <a:schemeClr val="dk1"/>
              </a:buClr>
              <a:buSzPts val="1600"/>
              <a:buFont typeface="Arial"/>
              <a:buNone/>
              <a:defRPr b="0" i="0" sz="1600" u="none" cap="none" strike="noStrike">
                <a:solidFill>
                  <a:srgbClr val="000000"/>
                </a:solidFill>
                <a:latin typeface="Arial"/>
                <a:ea typeface="Arial"/>
                <a:cs typeface="Arial"/>
                <a:sym typeface="Arial"/>
              </a:defRPr>
            </a:lvl4pPr>
            <a:lvl5pPr lvl="4" marR="0" rtl="0" algn="ctr">
              <a:lnSpc>
                <a:spcPct val="90000"/>
              </a:lnSpc>
              <a:spcBef>
                <a:spcPts val="500"/>
              </a:spcBef>
              <a:spcAft>
                <a:spcPts val="0"/>
              </a:spcAft>
              <a:buClr>
                <a:schemeClr val="dk1"/>
              </a:buClr>
              <a:buSzPts val="1600"/>
              <a:buFont typeface="Arial"/>
              <a:buNone/>
              <a:defRPr b="0" i="0" sz="1600" u="none" cap="none" strike="noStrike">
                <a:solidFill>
                  <a:srgbClr val="000000"/>
                </a:solidFill>
                <a:latin typeface="Arial"/>
                <a:ea typeface="Arial"/>
                <a:cs typeface="Arial"/>
                <a:sym typeface="Arial"/>
              </a:defRPr>
            </a:lvl5pPr>
            <a:lvl6pPr lvl="5" marR="0" rtl="0" algn="ctr">
              <a:lnSpc>
                <a:spcPct val="90000"/>
              </a:lnSpc>
              <a:spcBef>
                <a:spcPts val="500"/>
              </a:spcBef>
              <a:spcAft>
                <a:spcPts val="0"/>
              </a:spcAft>
              <a:buClr>
                <a:schemeClr val="dk1"/>
              </a:buClr>
              <a:buSzPts val="1600"/>
              <a:buFont typeface="Arial"/>
              <a:buNone/>
              <a:defRPr b="0" i="0" sz="1600" u="none" cap="none" strike="noStrike">
                <a:solidFill>
                  <a:srgbClr val="000000"/>
                </a:solidFill>
                <a:latin typeface="Arial"/>
                <a:ea typeface="Arial"/>
                <a:cs typeface="Arial"/>
                <a:sym typeface="Arial"/>
              </a:defRPr>
            </a:lvl6pPr>
            <a:lvl7pPr lvl="6" marR="0" rtl="0" algn="ctr">
              <a:lnSpc>
                <a:spcPct val="90000"/>
              </a:lnSpc>
              <a:spcBef>
                <a:spcPts val="500"/>
              </a:spcBef>
              <a:spcAft>
                <a:spcPts val="0"/>
              </a:spcAft>
              <a:buClr>
                <a:schemeClr val="dk1"/>
              </a:buClr>
              <a:buSzPts val="1600"/>
              <a:buFont typeface="Arial"/>
              <a:buNone/>
              <a:defRPr b="0" i="0" sz="1600" u="none" cap="none" strike="noStrike">
                <a:solidFill>
                  <a:srgbClr val="000000"/>
                </a:solidFill>
                <a:latin typeface="Arial"/>
                <a:ea typeface="Arial"/>
                <a:cs typeface="Arial"/>
                <a:sym typeface="Arial"/>
              </a:defRPr>
            </a:lvl7pPr>
            <a:lvl8pPr lvl="7" marR="0" rtl="0" algn="ctr">
              <a:lnSpc>
                <a:spcPct val="90000"/>
              </a:lnSpc>
              <a:spcBef>
                <a:spcPts val="500"/>
              </a:spcBef>
              <a:spcAft>
                <a:spcPts val="0"/>
              </a:spcAft>
              <a:buClr>
                <a:schemeClr val="dk1"/>
              </a:buClr>
              <a:buSzPts val="1600"/>
              <a:buFont typeface="Arial"/>
              <a:buNone/>
              <a:defRPr b="0" i="0" sz="1600" u="none" cap="none" strike="noStrike">
                <a:solidFill>
                  <a:srgbClr val="000000"/>
                </a:solidFill>
                <a:latin typeface="Arial"/>
                <a:ea typeface="Arial"/>
                <a:cs typeface="Arial"/>
                <a:sym typeface="Arial"/>
              </a:defRPr>
            </a:lvl8pPr>
            <a:lvl9pPr lvl="8" marR="0" rtl="0" algn="ctr">
              <a:lnSpc>
                <a:spcPct val="90000"/>
              </a:lnSpc>
              <a:spcBef>
                <a:spcPts val="500"/>
              </a:spcBef>
              <a:spcAft>
                <a:spcPts val="0"/>
              </a:spcAft>
              <a:buClr>
                <a:schemeClr val="dk1"/>
              </a:buClr>
              <a:buSzPts val="1600"/>
              <a:buFont typeface="Arial"/>
              <a:buNone/>
              <a:defRPr b="0" i="0" sz="1600" u="none" cap="none" strike="noStrike">
                <a:solidFill>
                  <a:srgbClr val="000000"/>
                </a:solidFill>
                <a:latin typeface="Arial"/>
                <a:ea typeface="Arial"/>
                <a:cs typeface="Arial"/>
                <a:sym typeface="Arial"/>
              </a:defRPr>
            </a:lvl9pPr>
          </a:lstStyle>
          <a:p/>
        </p:txBody>
      </p:sp>
      <p:sp>
        <p:nvSpPr>
          <p:cNvPr id="37" name="Google Shape;37;g27884b107a2_0_115"/>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haroni"/>
                <a:ea typeface="Aharoni"/>
                <a:cs typeface="Aharoni"/>
                <a:sym typeface="Aharoni"/>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38" name="Google Shape;38;g27884b107a2_0_115"/>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haroni"/>
                <a:ea typeface="Aharoni"/>
                <a:cs typeface="Aharoni"/>
                <a:sym typeface="Aharoni"/>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39" name="Google Shape;39;g27884b107a2_0_115"/>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haroni"/>
                <a:ea typeface="Aharoni"/>
                <a:cs typeface="Aharoni"/>
                <a:sym typeface="Aharoni"/>
              </a:defRPr>
            </a:lvl1pPr>
            <a:lvl2pPr indent="0" lvl="1"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haroni"/>
                <a:ea typeface="Aharoni"/>
                <a:cs typeface="Aharoni"/>
                <a:sym typeface="Aharoni"/>
              </a:defRPr>
            </a:lvl2pPr>
            <a:lvl3pPr indent="0" lvl="2"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haroni"/>
                <a:ea typeface="Aharoni"/>
                <a:cs typeface="Aharoni"/>
                <a:sym typeface="Aharoni"/>
              </a:defRPr>
            </a:lvl3pPr>
            <a:lvl4pPr indent="0" lvl="3"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haroni"/>
                <a:ea typeface="Aharoni"/>
                <a:cs typeface="Aharoni"/>
                <a:sym typeface="Aharoni"/>
              </a:defRPr>
            </a:lvl4pPr>
            <a:lvl5pPr indent="0" lvl="4"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haroni"/>
                <a:ea typeface="Aharoni"/>
                <a:cs typeface="Aharoni"/>
                <a:sym typeface="Aharoni"/>
              </a:defRPr>
            </a:lvl5pPr>
            <a:lvl6pPr indent="0" lvl="5"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haroni"/>
                <a:ea typeface="Aharoni"/>
                <a:cs typeface="Aharoni"/>
                <a:sym typeface="Aharoni"/>
              </a:defRPr>
            </a:lvl6pPr>
            <a:lvl7pPr indent="0" lvl="6"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haroni"/>
                <a:ea typeface="Aharoni"/>
                <a:cs typeface="Aharoni"/>
                <a:sym typeface="Aharoni"/>
              </a:defRPr>
            </a:lvl7pPr>
            <a:lvl8pPr indent="0" lvl="7"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haroni"/>
                <a:ea typeface="Aharoni"/>
                <a:cs typeface="Aharoni"/>
                <a:sym typeface="Aharoni"/>
              </a:defRPr>
            </a:lvl8pPr>
            <a:lvl9pPr indent="0" lvl="8"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haroni"/>
                <a:ea typeface="Aharoni"/>
                <a:cs typeface="Aharoni"/>
                <a:sym typeface="Aharon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11" Type="http://schemas.openxmlformats.org/officeDocument/2006/relationships/theme" Target="../theme/theme1.xml"/><Relationship Id="rId10" Type="http://schemas.openxmlformats.org/officeDocument/2006/relationships/slideLayout" Target="../slideLayouts/slideLayout9.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E0C1"/>
        </a:solidFill>
      </p:bgPr>
    </p:bg>
    <p:spTree>
      <p:nvGrpSpPr>
        <p:cNvPr id="9" name="Shape 9"/>
        <p:cNvGrpSpPr/>
        <p:nvPr/>
      </p:nvGrpSpPr>
      <p:grpSpPr>
        <a:xfrm>
          <a:off x="0" y="0"/>
          <a:ext cx="0" cy="0"/>
          <a:chOff x="0" y="0"/>
          <a:chExt cx="0" cy="0"/>
        </a:xfrm>
      </p:grpSpPr>
      <p:sp>
        <p:nvSpPr>
          <p:cNvPr id="10" name="Google Shape;10;p64"/>
          <p:cNvSpPr txBox="1"/>
          <p:nvPr/>
        </p:nvSpPr>
        <p:spPr>
          <a:xfrm>
            <a:off x="434411" y="6230138"/>
            <a:ext cx="478980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7F7F7F"/>
              </a:buClr>
              <a:buSzPts val="1800"/>
              <a:buFont typeface="Open Sans"/>
              <a:buNone/>
            </a:pPr>
            <a:r>
              <a:rPr b="0" i="0" lang="en-US" sz="1800" u="none" cap="none" strike="noStrike">
                <a:solidFill>
                  <a:srgbClr val="7F7F7F"/>
                </a:solidFill>
                <a:latin typeface="Open Sans"/>
                <a:ea typeface="Open Sans"/>
                <a:cs typeface="Open Sans"/>
                <a:sym typeface="Open Sans"/>
              </a:rPr>
              <a:t>Dept EECE, GST Bengaluru</a:t>
            </a:r>
            <a:endParaRPr b="0" i="0" sz="1800" u="none" cap="none" strike="noStrike">
              <a:solidFill>
                <a:srgbClr val="7F7F7F"/>
              </a:solidFill>
              <a:latin typeface="Open Sans"/>
              <a:ea typeface="Open Sans"/>
              <a:cs typeface="Open Sans"/>
              <a:sym typeface="Open Sans"/>
            </a:endParaRPr>
          </a:p>
        </p:txBody>
      </p:sp>
      <p:pic>
        <p:nvPicPr>
          <p:cNvPr id="11" name="Google Shape;11;p64"/>
          <p:cNvPicPr preferRelativeResize="0"/>
          <p:nvPr/>
        </p:nvPicPr>
        <p:blipFill rotWithShape="1">
          <a:blip r:embed="rId1">
            <a:alphaModFix/>
          </a:blip>
          <a:srcRect b="0" l="0" r="0" t="0"/>
          <a:stretch/>
        </p:blipFill>
        <p:spPr>
          <a:xfrm>
            <a:off x="10545066" y="6107763"/>
            <a:ext cx="1432859" cy="614082"/>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60">
          <p15:clr>
            <a:srgbClr val="A4A3A4"/>
          </p15:clr>
        </p15:guide>
        <p15:guide id="2" pos="3840">
          <p15:clr>
            <a:srgbClr val="A4A3A4"/>
          </p15:clr>
        </p15:guide>
        <p15:guide id="3" orient="horz" pos="799">
          <p15:clr>
            <a:srgbClr val="A4A3A4"/>
          </p15:clr>
        </p15:guide>
        <p15:guide id="4" orient="horz" pos="346">
          <p15:clr>
            <a:srgbClr val="A4A3A4"/>
          </p15:clr>
        </p15:guide>
        <p15:guide id="5" orient="horz" pos="1253">
          <p15:clr>
            <a:srgbClr val="A4A3A4"/>
          </p15:clr>
        </p15:guide>
        <p15:guide id="6" orient="horz" pos="1706">
          <p15:clr>
            <a:srgbClr val="A4A3A4"/>
          </p15:clr>
        </p15:guide>
        <p15:guide id="7" orient="horz" pos="2614">
          <p15:clr>
            <a:srgbClr val="A4A3A4"/>
          </p15:clr>
        </p15:guide>
        <p15:guide id="8" orient="horz" pos="3067">
          <p15:clr>
            <a:srgbClr val="A4A3A4"/>
          </p15:clr>
        </p15:guide>
        <p15:guide id="9" orient="horz" pos="3521">
          <p15:clr>
            <a:srgbClr val="A4A3A4"/>
          </p15:clr>
        </p15:guide>
        <p15:guide id="10" orient="horz" pos="3974">
          <p15:clr>
            <a:srgbClr val="A4A3A4"/>
          </p15:clr>
        </p15:guide>
        <p15:guide id="11" pos="4294">
          <p15:clr>
            <a:srgbClr val="A4A3A4"/>
          </p15:clr>
        </p15:guide>
        <p15:guide id="12" pos="4747">
          <p15:clr>
            <a:srgbClr val="A4A3A4"/>
          </p15:clr>
        </p15:guide>
        <p15:guide id="13" pos="211">
          <p15:clr>
            <a:srgbClr val="A4A3A4"/>
          </p15:clr>
        </p15:guide>
        <p15:guide id="14" pos="665">
          <p15:clr>
            <a:srgbClr val="A4A3A4"/>
          </p15:clr>
        </p15:guide>
        <p15:guide id="15" pos="1118">
          <p15:clr>
            <a:srgbClr val="A4A3A4"/>
          </p15:clr>
        </p15:guide>
        <p15:guide id="16" pos="1572">
          <p15:clr>
            <a:srgbClr val="A4A3A4"/>
          </p15:clr>
        </p15:guide>
        <p15:guide id="17" pos="2026">
          <p15:clr>
            <a:srgbClr val="A4A3A4"/>
          </p15:clr>
        </p15:guide>
        <p15:guide id="18" pos="2479">
          <p15:clr>
            <a:srgbClr val="A4A3A4"/>
          </p15:clr>
        </p15:guide>
        <p15:guide id="19" pos="2933">
          <p15:clr>
            <a:srgbClr val="A4A3A4"/>
          </p15:clr>
        </p15:guide>
        <p15:guide id="20" pos="3386">
          <p15:clr>
            <a:srgbClr val="A4A3A4"/>
          </p15:clr>
        </p15:guide>
        <p15:guide id="21" pos="5201">
          <p15:clr>
            <a:srgbClr val="A4A3A4"/>
          </p15:clr>
        </p15:guide>
        <p15:guide id="22" pos="5654">
          <p15:clr>
            <a:srgbClr val="A4A3A4"/>
          </p15:clr>
        </p15:guide>
        <p15:guide id="23" pos="6108">
          <p15:clr>
            <a:srgbClr val="A4A3A4"/>
          </p15:clr>
        </p15:guide>
        <p15:guide id="24" pos="6562">
          <p15:clr>
            <a:srgbClr val="A4A3A4"/>
          </p15:clr>
        </p15:guide>
        <p15:guide id="25" pos="7015">
          <p15:clr>
            <a:srgbClr val="A4A3A4"/>
          </p15:clr>
        </p15:guide>
        <p15:guide id="26" pos="7469">
          <p15:clr>
            <a:srgbClr val="A4A3A4"/>
          </p15:clr>
        </p15:guide>
        <p15:guide id="27" pos="347">
          <p15:clr>
            <a:srgbClr val="F26B43"/>
          </p15:clr>
        </p15:guide>
        <p15:guide id="28" pos="7333">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20" Type="http://schemas.openxmlformats.org/officeDocument/2006/relationships/hyperlink" Target="https://github.com/NVlabs/PyCuVSLAM" TargetMode="External"/><Relationship Id="rId22" Type="http://schemas.openxmlformats.org/officeDocument/2006/relationships/hyperlink" Target="https://github.com/NVlabs/LongSplat" TargetMode="External"/><Relationship Id="rId21" Type="http://schemas.openxmlformats.org/officeDocument/2006/relationships/hyperlink" Target="https://github.com/htkseason/VOLDOR" TargetMode="External"/><Relationship Id="rId24" Type="http://schemas.openxmlformats.org/officeDocument/2006/relationships/hyperlink" Target="https://github.com/NVIDIA-ISAAC-ROS/isaac_ros_visual_slam" TargetMode="External"/><Relationship Id="rId23" Type="http://schemas.openxmlformats.org/officeDocument/2006/relationships/hyperlink" Target="https://github.com/NVlabs/LongSplat" TargetMode="External"/><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hyperlink" Target="https://github.com/thippeswammy/VO2MAP" TargetMode="External"/><Relationship Id="rId4" Type="http://schemas.openxmlformats.org/officeDocument/2006/relationships/hyperlink" Target="https://github.com/thippeswammy/DROID_slam" TargetMode="External"/><Relationship Id="rId9" Type="http://schemas.openxmlformats.org/officeDocument/2006/relationships/hyperlink" Target="https://github.com/NVlabs/PyCuVSLAM" TargetMode="External"/><Relationship Id="rId26" Type="http://schemas.openxmlformats.org/officeDocument/2006/relationships/hyperlink" Target="https://github.com/htkseason/VOLDOR" TargetMode="External"/><Relationship Id="rId25" Type="http://schemas.openxmlformats.org/officeDocument/2006/relationships/hyperlink" Target="https://github.com/htkseason/VOLDOR" TargetMode="External"/><Relationship Id="rId28" Type="http://schemas.openxmlformats.org/officeDocument/2006/relationships/hyperlink" Target="https://github.com/NVIDIA-ISAAC-ROS/isaac_ros_visual_slam" TargetMode="External"/><Relationship Id="rId27" Type="http://schemas.openxmlformats.org/officeDocument/2006/relationships/hyperlink" Target="http://spatialtracker.github.io/" TargetMode="External"/><Relationship Id="rId5" Type="http://schemas.openxmlformats.org/officeDocument/2006/relationships/hyperlink" Target="https://github.com/thippeswammy/DROID_slam" TargetMode="External"/><Relationship Id="rId6" Type="http://schemas.openxmlformats.org/officeDocument/2006/relationships/hyperlink" Target="https://github.com/NVlabs/PyCuVSLAM" TargetMode="External"/><Relationship Id="rId29" Type="http://schemas.openxmlformats.org/officeDocument/2006/relationships/hyperlink" Target="https://github.com/NVIDIA-ISAAC-ROS/isaac_ros_visual_slam" TargetMode="External"/><Relationship Id="rId7" Type="http://schemas.openxmlformats.org/officeDocument/2006/relationships/hyperlink" Target="http://spatialtracker.github.io/" TargetMode="External"/><Relationship Id="rId8" Type="http://schemas.openxmlformats.org/officeDocument/2006/relationships/hyperlink" Target="https://github.com/henry123-boy/SpaTrackerV2" TargetMode="External"/><Relationship Id="rId31" Type="http://schemas.openxmlformats.org/officeDocument/2006/relationships/hyperlink" Target="https://github.com/tum-vision/dvo_slam" TargetMode="External"/><Relationship Id="rId30" Type="http://schemas.openxmlformats.org/officeDocument/2006/relationships/hyperlink" Target="https://github.com/NVlabs/LongSplat" TargetMode="External"/><Relationship Id="rId11" Type="http://schemas.openxmlformats.org/officeDocument/2006/relationships/hyperlink" Target="https://github.com/raulmur/ORB_SLAM2" TargetMode="External"/><Relationship Id="rId33" Type="http://schemas.openxmlformats.org/officeDocument/2006/relationships/hyperlink" Target="https://github.com/tum-vision/dvo_slam" TargetMode="External"/><Relationship Id="rId10" Type="http://schemas.openxmlformats.org/officeDocument/2006/relationships/hyperlink" Target="https://github.com/raulmur/ORB_SLAM2" TargetMode="External"/><Relationship Id="rId32" Type="http://schemas.openxmlformats.org/officeDocument/2006/relationships/hyperlink" Target="https://github.com/tum-vision/dvo_slam" TargetMode="External"/><Relationship Id="rId13" Type="http://schemas.openxmlformats.org/officeDocument/2006/relationships/hyperlink" Target="https://github.com/raulmur/ORB_SLAM" TargetMode="External"/><Relationship Id="rId35" Type="http://schemas.openxmlformats.org/officeDocument/2006/relationships/hyperlink" Target="https://github.com/Huangying-Zhan/Depth-VO-Feat" TargetMode="External"/><Relationship Id="rId12" Type="http://schemas.openxmlformats.org/officeDocument/2006/relationships/hyperlink" Target="https://github.com/thippeswammy/DPVO" TargetMode="External"/><Relationship Id="rId34" Type="http://schemas.openxmlformats.org/officeDocument/2006/relationships/hyperlink" Target="https://github.com/Huangying-Zhan/Depth-VO-Feat" TargetMode="External"/><Relationship Id="rId15" Type="http://schemas.openxmlformats.org/officeDocument/2006/relationships/hyperlink" Target="https://github.com/raulmur/ORB_SLAM2" TargetMode="External"/><Relationship Id="rId37" Type="http://schemas.openxmlformats.org/officeDocument/2006/relationships/hyperlink" Target="https://github.com/Huangying-Zhan/DF-VO" TargetMode="External"/><Relationship Id="rId14" Type="http://schemas.openxmlformats.org/officeDocument/2006/relationships/hyperlink" Target="https://github.com/raulmur/ORB_SLAM" TargetMode="External"/><Relationship Id="rId36" Type="http://schemas.openxmlformats.org/officeDocument/2006/relationships/hyperlink" Target="https://github.com/Huangying-Zhan/Depth-VO-Feat" TargetMode="External"/><Relationship Id="rId17" Type="http://schemas.openxmlformats.org/officeDocument/2006/relationships/hyperlink" Target="https://github.com/thippeswammy/DPVO" TargetMode="External"/><Relationship Id="rId16" Type="http://schemas.openxmlformats.org/officeDocument/2006/relationships/hyperlink" Target="https://github.com/thippeswammy/DPVO" TargetMode="External"/><Relationship Id="rId38" Type="http://schemas.openxmlformats.org/officeDocument/2006/relationships/hyperlink" Target="https://github.com/Huangying-Zhan/DF-VO" TargetMode="External"/><Relationship Id="rId19" Type="http://schemas.openxmlformats.org/officeDocument/2006/relationships/hyperlink" Target="https://github.com/NVlabs/PyCuVSLAM" TargetMode="External"/><Relationship Id="rId18" Type="http://schemas.openxmlformats.org/officeDocument/2006/relationships/hyperlink" Target="https://github.com/raulmur/ORB_SLAM"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 name="Shape 43"/>
        <p:cNvGrpSpPr/>
        <p:nvPr/>
      </p:nvGrpSpPr>
      <p:grpSpPr>
        <a:xfrm>
          <a:off x="0" y="0"/>
          <a:ext cx="0" cy="0"/>
          <a:chOff x="0" y="0"/>
          <a:chExt cx="0" cy="0"/>
        </a:xfrm>
      </p:grpSpPr>
      <p:sp>
        <p:nvSpPr>
          <p:cNvPr id="44" name="Google Shape;44;p2"/>
          <p:cNvSpPr txBox="1"/>
          <p:nvPr>
            <p:ph idx="12" type="sldNum"/>
          </p:nvPr>
        </p:nvSpPr>
        <p:spPr>
          <a:xfrm>
            <a:off x="11460163" y="6218238"/>
            <a:ext cx="731837" cy="523875"/>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pic>
        <p:nvPicPr>
          <p:cNvPr id="45" name="Google Shape;45;p2"/>
          <p:cNvPicPr preferRelativeResize="0"/>
          <p:nvPr/>
        </p:nvPicPr>
        <p:blipFill rotWithShape="1">
          <a:blip r:embed="rId3">
            <a:alphaModFix amt="20000"/>
          </a:blip>
          <a:srcRect b="19493" l="1514" r="2310" t="0"/>
          <a:stretch/>
        </p:blipFill>
        <p:spPr>
          <a:xfrm>
            <a:off x="-1235" y="7409"/>
            <a:ext cx="12193235" cy="6734914"/>
          </a:xfrm>
          <a:prstGeom prst="rect">
            <a:avLst/>
          </a:prstGeom>
          <a:noFill/>
          <a:ln>
            <a:noFill/>
          </a:ln>
        </p:spPr>
      </p:pic>
      <p:sp>
        <p:nvSpPr>
          <p:cNvPr id="46" name="Google Shape;46;p2"/>
          <p:cNvSpPr txBox="1"/>
          <p:nvPr/>
        </p:nvSpPr>
        <p:spPr>
          <a:xfrm>
            <a:off x="2904067" y="3157752"/>
            <a:ext cx="6383867" cy="5231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007069"/>
                </a:solidFill>
                <a:latin typeface="Open Sans"/>
                <a:ea typeface="Open Sans"/>
                <a:cs typeface="Open Sans"/>
                <a:sym typeface="Open Sans"/>
              </a:rPr>
              <a:t>GITAM (Deemed-to-be) University</a:t>
            </a:r>
            <a:endParaRPr b="0" i="0" sz="2800" u="none" cap="none" strike="noStrike">
              <a:solidFill>
                <a:srgbClr val="000000"/>
              </a:solidFill>
              <a:latin typeface="Arial"/>
              <a:ea typeface="Arial"/>
              <a:cs typeface="Arial"/>
              <a:sym typeface="Arial"/>
            </a:endParaRPr>
          </a:p>
        </p:txBody>
      </p:sp>
      <p:sp>
        <p:nvSpPr>
          <p:cNvPr id="47" name="Google Shape;47;p2"/>
          <p:cNvSpPr/>
          <p:nvPr/>
        </p:nvSpPr>
        <p:spPr>
          <a:xfrm>
            <a:off x="3060700" y="6148918"/>
            <a:ext cx="6096000" cy="27699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7F7F7F"/>
                </a:solidFill>
                <a:latin typeface="Montserrat Medium"/>
                <a:ea typeface="Montserrat Medium"/>
                <a:cs typeface="Montserrat Medium"/>
                <a:sym typeface="Montserrat Medium"/>
              </a:rPr>
              <a:t>www.gitam.edu</a:t>
            </a:r>
            <a:endParaRPr b="0" i="0" sz="1200" u="none" cap="none" strike="noStrike">
              <a:solidFill>
                <a:srgbClr val="7F7F7F"/>
              </a:solidFill>
              <a:latin typeface="Montserrat Medium"/>
              <a:ea typeface="Montserrat Medium"/>
              <a:cs typeface="Montserrat Medium"/>
              <a:sym typeface="Montserrat Medium"/>
            </a:endParaRPr>
          </a:p>
        </p:txBody>
      </p:sp>
      <p:grpSp>
        <p:nvGrpSpPr>
          <p:cNvPr id="48" name="Google Shape;48;p2"/>
          <p:cNvGrpSpPr/>
          <p:nvPr/>
        </p:nvGrpSpPr>
        <p:grpSpPr>
          <a:xfrm rot="2700000">
            <a:off x="5984712" y="5183993"/>
            <a:ext cx="231043" cy="225933"/>
            <a:chOff x="11087593" y="13905"/>
            <a:chExt cx="1085533" cy="1061509"/>
          </a:xfrm>
        </p:grpSpPr>
        <p:sp>
          <p:nvSpPr>
            <p:cNvPr id="49" name="Google Shape;49;p2"/>
            <p:cNvSpPr/>
            <p:nvPr/>
          </p:nvSpPr>
          <p:spPr>
            <a:xfrm>
              <a:off x="11087593" y="548342"/>
              <a:ext cx="537028" cy="527072"/>
            </a:xfrm>
            <a:prstGeom prst="rect">
              <a:avLst/>
            </a:prstGeom>
            <a:solidFill>
              <a:srgbClr val="DF2A3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1"/>
                <a:buFont typeface="Arial"/>
                <a:buNone/>
              </a:pPr>
              <a:r>
                <a:t/>
              </a:r>
              <a:endParaRPr b="0" i="0" sz="1351" u="none" cap="none" strike="noStrike">
                <a:solidFill>
                  <a:schemeClr val="lt1"/>
                </a:solidFill>
                <a:latin typeface="Calibri"/>
                <a:ea typeface="Calibri"/>
                <a:cs typeface="Calibri"/>
                <a:sym typeface="Calibri"/>
              </a:endParaRPr>
            </a:p>
          </p:txBody>
        </p:sp>
        <p:sp>
          <p:nvSpPr>
            <p:cNvPr id="50" name="Google Shape;50;p2"/>
            <p:cNvSpPr/>
            <p:nvPr/>
          </p:nvSpPr>
          <p:spPr>
            <a:xfrm>
              <a:off x="11636098" y="13905"/>
              <a:ext cx="537028" cy="527079"/>
            </a:xfrm>
            <a:prstGeom prst="rect">
              <a:avLst/>
            </a:prstGeom>
            <a:solidFill>
              <a:srgbClr val="3A3A7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1"/>
                <a:buFont typeface="Arial"/>
                <a:buNone/>
              </a:pPr>
              <a:r>
                <a:t/>
              </a:r>
              <a:endParaRPr b="0" i="0" sz="1351" u="none" cap="none" strike="noStrike">
                <a:solidFill>
                  <a:schemeClr val="lt1"/>
                </a:solidFill>
                <a:latin typeface="Calibri"/>
                <a:ea typeface="Calibri"/>
                <a:cs typeface="Calibri"/>
                <a:sym typeface="Calibri"/>
              </a:endParaRPr>
            </a:p>
          </p:txBody>
        </p:sp>
      </p:grpSp>
      <p:sp>
        <p:nvSpPr>
          <p:cNvPr id="51" name="Google Shape;51;p2"/>
          <p:cNvSpPr/>
          <p:nvPr/>
        </p:nvSpPr>
        <p:spPr>
          <a:xfrm>
            <a:off x="2904067" y="3856219"/>
            <a:ext cx="6096000" cy="64629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Montserrat Medium"/>
                <a:ea typeface="Montserrat Medium"/>
                <a:cs typeface="Montserrat Medium"/>
                <a:sym typeface="Montserrat Medium"/>
              </a:rPr>
              <a:t>Department of Electrical Electronics and Communication Engineering</a:t>
            </a:r>
            <a:endParaRPr b="1" i="0" sz="1800" u="none" cap="none" strike="noStrike">
              <a:solidFill>
                <a:schemeClr val="dk1"/>
              </a:solidFill>
              <a:latin typeface="Arial"/>
              <a:ea typeface="Arial"/>
              <a:cs typeface="Arial"/>
              <a:sym typeface="Arial"/>
            </a:endParaRPr>
          </a:p>
        </p:txBody>
      </p:sp>
      <p:sp>
        <p:nvSpPr>
          <p:cNvPr id="52" name="Google Shape;52;p2"/>
          <p:cNvSpPr/>
          <p:nvPr/>
        </p:nvSpPr>
        <p:spPr>
          <a:xfrm>
            <a:off x="9156700" y="5791918"/>
            <a:ext cx="2926946" cy="30777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chemeClr val="dk1"/>
              </a:solidFill>
              <a:latin typeface="Arial"/>
              <a:ea typeface="Arial"/>
              <a:cs typeface="Arial"/>
              <a:sym typeface="Arial"/>
            </a:endParaRPr>
          </a:p>
        </p:txBody>
      </p:sp>
      <p:sp>
        <p:nvSpPr>
          <p:cNvPr id="53" name="Google Shape;53;p2"/>
          <p:cNvSpPr/>
          <p:nvPr/>
        </p:nvSpPr>
        <p:spPr>
          <a:xfrm>
            <a:off x="133754" y="4504626"/>
            <a:ext cx="2926946" cy="116951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Montserrat Medium"/>
                <a:ea typeface="Montserrat Medium"/>
                <a:cs typeface="Montserrat Medium"/>
                <a:sym typeface="Montserrat Medium"/>
              </a:rPr>
              <a:t>Project Team: </a:t>
            </a:r>
            <a:endParaRPr/>
          </a:p>
          <a:p>
            <a:pPr indent="-317500" lvl="0" marL="457200" marR="0" rtl="0" algn="l">
              <a:lnSpc>
                <a:spcPct val="100000"/>
              </a:lnSpc>
              <a:spcBef>
                <a:spcPts val="0"/>
              </a:spcBef>
              <a:spcAft>
                <a:spcPts val="0"/>
              </a:spcAft>
              <a:buClr>
                <a:schemeClr val="dk1"/>
              </a:buClr>
              <a:buSzPts val="1400"/>
              <a:buFont typeface="Montserrat Medium"/>
              <a:buChar char="●"/>
            </a:pPr>
            <a:r>
              <a:rPr b="1" lang="en-US">
                <a:solidFill>
                  <a:schemeClr val="dk1"/>
                </a:solidFill>
                <a:latin typeface="Montserrat Medium"/>
                <a:ea typeface="Montserrat Medium"/>
                <a:cs typeface="Montserrat Medium"/>
                <a:sym typeface="Montserrat Medium"/>
              </a:rPr>
              <a:t>Thippeswamy k s</a:t>
            </a:r>
            <a:endParaRPr/>
          </a:p>
          <a:p>
            <a:pPr indent="-317500" lvl="0" marL="457200" marR="0" rtl="0" algn="l">
              <a:lnSpc>
                <a:spcPct val="100000"/>
              </a:lnSpc>
              <a:spcBef>
                <a:spcPts val="0"/>
              </a:spcBef>
              <a:spcAft>
                <a:spcPts val="0"/>
              </a:spcAft>
              <a:buClr>
                <a:schemeClr val="dk1"/>
              </a:buClr>
              <a:buSzPts val="1400"/>
              <a:buFont typeface="Montserrat Medium"/>
              <a:buChar char="●"/>
            </a:pPr>
            <a:r>
              <a:rPr b="1" lang="en-US">
                <a:solidFill>
                  <a:schemeClr val="dk1"/>
                </a:solidFill>
                <a:latin typeface="Montserrat Medium"/>
                <a:ea typeface="Montserrat Medium"/>
                <a:cs typeface="Montserrat Medium"/>
                <a:sym typeface="Montserrat Medium"/>
              </a:rPr>
              <a:t>Bharath M</a:t>
            </a:r>
            <a:endParaRPr b="1" i="0" sz="1400" u="none" cap="none" strike="noStrike">
              <a:solidFill>
                <a:schemeClr val="dk1"/>
              </a:solidFill>
              <a:latin typeface="Arial"/>
              <a:ea typeface="Arial"/>
              <a:cs typeface="Arial"/>
              <a:sym typeface="Arial"/>
            </a:endParaRPr>
          </a:p>
          <a:p>
            <a:pPr indent="-317500" lvl="0" marL="457200" marR="0" rtl="0" algn="l">
              <a:lnSpc>
                <a:spcPct val="100000"/>
              </a:lnSpc>
              <a:spcBef>
                <a:spcPts val="0"/>
              </a:spcBef>
              <a:spcAft>
                <a:spcPts val="0"/>
              </a:spcAft>
              <a:buClr>
                <a:schemeClr val="dk1"/>
              </a:buClr>
              <a:buSzPts val="1400"/>
              <a:buFont typeface="Montserrat Medium"/>
              <a:buChar char="●"/>
            </a:pPr>
            <a:r>
              <a:rPr b="1" lang="en-US">
                <a:solidFill>
                  <a:schemeClr val="dk1"/>
                </a:solidFill>
                <a:latin typeface="Montserrat Medium"/>
                <a:ea typeface="Montserrat Medium"/>
                <a:cs typeface="Montserrat Medium"/>
                <a:sym typeface="Montserrat Medium"/>
              </a:rPr>
              <a:t>M Gopichand    </a:t>
            </a:r>
            <a:endParaRPr b="1" i="0" sz="1400" u="none" cap="none" strike="noStrike">
              <a:solidFill>
                <a:schemeClr val="dk1"/>
              </a:solidFill>
              <a:latin typeface="Montserrat Medium"/>
              <a:ea typeface="Montserrat Medium"/>
              <a:cs typeface="Montserrat Medium"/>
              <a:sym typeface="Montserrat Medium"/>
            </a:endParaRPr>
          </a:p>
          <a:p>
            <a:pPr indent="-196850" lvl="0" marL="285750" marR="0" rtl="0" algn="ctr">
              <a:lnSpc>
                <a:spcPct val="100000"/>
              </a:lnSpc>
              <a:spcBef>
                <a:spcPts val="0"/>
              </a:spcBef>
              <a:spcAft>
                <a:spcPts val="0"/>
              </a:spcAft>
              <a:buClr>
                <a:srgbClr val="000000"/>
              </a:buClr>
              <a:buSzPts val="1400"/>
              <a:buFont typeface="Arial"/>
              <a:buNone/>
            </a:pPr>
            <a:r>
              <a:t/>
            </a:r>
            <a:endParaRPr b="1" i="0" sz="1400" u="none" cap="none" strike="noStrike">
              <a:solidFill>
                <a:schemeClr val="dk1"/>
              </a:solidFill>
              <a:latin typeface="Arial"/>
              <a:ea typeface="Arial"/>
              <a:cs typeface="Arial"/>
              <a:sym typeface="Arial"/>
            </a:endParaRPr>
          </a:p>
        </p:txBody>
      </p:sp>
      <p:sp>
        <p:nvSpPr>
          <p:cNvPr id="54" name="Google Shape;54;p2"/>
          <p:cNvSpPr/>
          <p:nvPr/>
        </p:nvSpPr>
        <p:spPr>
          <a:xfrm>
            <a:off x="9322056" y="5040405"/>
            <a:ext cx="2926800" cy="954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Montserrat Medium"/>
                <a:ea typeface="Montserrat Medium"/>
                <a:cs typeface="Montserrat Medium"/>
                <a:sym typeface="Montserrat Medium"/>
              </a:rPr>
              <a:t>Project Mentor: </a:t>
            </a:r>
            <a:endParaRPr/>
          </a:p>
          <a:p>
            <a:pPr indent="-285750" lvl="0" marL="285750" marR="0" rtl="0" algn="ctr">
              <a:lnSpc>
                <a:spcPct val="100000"/>
              </a:lnSpc>
              <a:spcBef>
                <a:spcPts val="0"/>
              </a:spcBef>
              <a:spcAft>
                <a:spcPts val="0"/>
              </a:spcAft>
              <a:buClr>
                <a:srgbClr val="000000"/>
              </a:buClr>
              <a:buSzPts val="1400"/>
              <a:buFont typeface="Arial"/>
              <a:buChar char="•"/>
            </a:pPr>
            <a:r>
              <a:rPr b="1" lang="en-US">
                <a:solidFill>
                  <a:schemeClr val="dk1"/>
                </a:solidFill>
                <a:latin typeface="Montserrat Medium"/>
                <a:ea typeface="Montserrat Medium"/>
                <a:cs typeface="Montserrat Medium"/>
                <a:sym typeface="Montserrat Medium"/>
              </a:rPr>
              <a:t>Prithvi Shekar Pagala</a:t>
            </a:r>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Montserrat Medium"/>
                <a:ea typeface="Montserrat Medium"/>
                <a:cs typeface="Montserrat Medium"/>
                <a:sym typeface="Montserrat Medium"/>
              </a:rPr>
              <a:t>Project In-charge: </a:t>
            </a:r>
            <a:endParaRPr/>
          </a:p>
          <a:p>
            <a:pPr indent="-285750" lvl="0" marL="285750" marR="0" rtl="0" algn="ctr">
              <a:lnSpc>
                <a:spcPct val="100000"/>
              </a:lnSpc>
              <a:spcBef>
                <a:spcPts val="0"/>
              </a:spcBef>
              <a:spcAft>
                <a:spcPts val="0"/>
              </a:spcAft>
              <a:buClr>
                <a:srgbClr val="000000"/>
              </a:buClr>
              <a:buSzPts val="1400"/>
              <a:buFont typeface="Arial"/>
              <a:buChar char="•"/>
            </a:pPr>
            <a:r>
              <a:rPr b="1" lang="en-US">
                <a:solidFill>
                  <a:schemeClr val="dk1"/>
                </a:solidFill>
              </a:rPr>
              <a:t>Jaya Prakash Saho</a:t>
            </a:r>
            <a:endParaRPr b="1" i="0" sz="1400" u="none" cap="none" strike="noStrike">
              <a:solidFill>
                <a:schemeClr val="dk1"/>
              </a:solidFill>
              <a:latin typeface="Arial"/>
              <a:ea typeface="Arial"/>
              <a:cs typeface="Arial"/>
              <a:sym typeface="Arial"/>
            </a:endParaRPr>
          </a:p>
        </p:txBody>
      </p:sp>
      <p:pic>
        <p:nvPicPr>
          <p:cNvPr id="55" name="Google Shape;55;p2"/>
          <p:cNvPicPr preferRelativeResize="0"/>
          <p:nvPr/>
        </p:nvPicPr>
        <p:blipFill rotWithShape="1">
          <a:blip r:embed="rId4">
            <a:alphaModFix/>
          </a:blip>
          <a:srcRect b="0" l="0" r="0" t="0"/>
          <a:stretch/>
        </p:blipFill>
        <p:spPr>
          <a:xfrm>
            <a:off x="4601352" y="1778687"/>
            <a:ext cx="2674631" cy="1245671"/>
          </a:xfrm>
          <a:prstGeom prst="rect">
            <a:avLst/>
          </a:prstGeom>
          <a:noFill/>
          <a:ln>
            <a:noFill/>
          </a:ln>
        </p:spPr>
      </p:pic>
      <p:sp>
        <p:nvSpPr>
          <p:cNvPr id="56" name="Google Shape;56;p2"/>
          <p:cNvSpPr txBox="1"/>
          <p:nvPr/>
        </p:nvSpPr>
        <p:spPr>
          <a:xfrm>
            <a:off x="4092874" y="264014"/>
            <a:ext cx="4005016" cy="52318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1" lang="en-US" sz="2800">
                <a:solidFill>
                  <a:srgbClr val="007069"/>
                </a:solidFill>
                <a:latin typeface="Open Sans"/>
                <a:ea typeface="Open Sans"/>
                <a:cs typeface="Open Sans"/>
                <a:sym typeface="Open Sans"/>
              </a:rPr>
              <a:t>Visual Odometry</a:t>
            </a:r>
            <a:endParaRPr b="0" i="0" sz="2800" u="none" cap="none" strike="noStrike">
              <a:solidFill>
                <a:srgbClr val="000000"/>
              </a:solidFill>
              <a:latin typeface="Arial"/>
              <a:ea typeface="Arial"/>
              <a:cs typeface="Arial"/>
              <a:sym typeface="Arial"/>
            </a:endParaRPr>
          </a:p>
        </p:txBody>
      </p:sp>
      <p:sp>
        <p:nvSpPr>
          <p:cNvPr id="57" name="Google Shape;57;p2"/>
          <p:cNvSpPr txBox="1"/>
          <p:nvPr/>
        </p:nvSpPr>
        <p:spPr>
          <a:xfrm>
            <a:off x="9812887" y="141274"/>
            <a:ext cx="2245360" cy="40006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007069"/>
                </a:solidFill>
                <a:latin typeface="Open Sans"/>
                <a:ea typeface="Open Sans"/>
                <a:cs typeface="Open Sans"/>
                <a:sym typeface="Open Sans"/>
              </a:rPr>
              <a:t>Review-I</a:t>
            </a:r>
            <a:endParaRPr b="0" i="1" sz="2000" u="none" cap="none" strike="noStrike">
              <a:solidFill>
                <a:srgbClr val="000000"/>
              </a:solidFill>
              <a:latin typeface="Arial"/>
              <a:ea typeface="Arial"/>
              <a:cs typeface="Arial"/>
              <a:sym typeface="Arial"/>
            </a:endParaRPr>
          </a:p>
        </p:txBody>
      </p:sp>
      <p:sp>
        <p:nvSpPr>
          <p:cNvPr id="58" name="Google Shape;58;p2"/>
          <p:cNvSpPr/>
          <p:nvPr/>
        </p:nvSpPr>
        <p:spPr>
          <a:xfrm>
            <a:off x="133753" y="2965411"/>
            <a:ext cx="2432050" cy="818907"/>
          </a:xfrm>
          <a:prstGeom prst="roundRect">
            <a:avLst>
              <a:gd fmla="val 16667" name="adj"/>
            </a:avLst>
          </a:prstGeom>
          <a:solidFill>
            <a:srgbClr val="FFC000"/>
          </a:solidFill>
          <a:ln cap="flat" cmpd="sng" w="25400">
            <a:solidFill>
              <a:srgbClr val="A0420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rPr b="1" i="0" lang="en-US" sz="1800" u="none" cap="none" strike="noStrike">
                <a:solidFill>
                  <a:schemeClr val="lt1"/>
                </a:solidFill>
                <a:latin typeface="Verdana"/>
                <a:ea typeface="Verdana"/>
                <a:cs typeface="Verdana"/>
                <a:sym typeface="Verdana"/>
              </a:rPr>
              <a:t>AY 2025-26 </a:t>
            </a:r>
            <a:endParaRPr b="1" i="0" sz="900" u="none" cap="none" strike="noStrike">
              <a:solidFill>
                <a:srgbClr val="000000"/>
              </a:solidFill>
              <a:latin typeface="Arial"/>
              <a:ea typeface="Arial"/>
              <a:cs typeface="Arial"/>
              <a:sym typeface="Arial"/>
            </a:endParaRPr>
          </a:p>
        </p:txBody>
      </p:sp>
      <p:sp>
        <p:nvSpPr>
          <p:cNvPr id="59" name="Google Shape;59;p2"/>
          <p:cNvSpPr/>
          <p:nvPr/>
        </p:nvSpPr>
        <p:spPr>
          <a:xfrm>
            <a:off x="9287933" y="2965412"/>
            <a:ext cx="2770314" cy="818907"/>
          </a:xfrm>
          <a:prstGeom prst="roundRect">
            <a:avLst>
              <a:gd fmla="val 16667" name="adj"/>
            </a:avLst>
          </a:prstGeom>
          <a:solidFill>
            <a:srgbClr val="EAA600"/>
          </a:solidFill>
          <a:ln cap="flat" cmpd="sng" w="25400">
            <a:solidFill>
              <a:srgbClr val="A0420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800" u="none" cap="none" strike="noStrike">
                <a:solidFill>
                  <a:schemeClr val="lt1"/>
                </a:solidFill>
                <a:latin typeface="Verdana"/>
                <a:ea typeface="Verdana"/>
                <a:cs typeface="Verdana"/>
                <a:sym typeface="Verdana"/>
              </a:rPr>
              <a:t>Capstone Project – Introduction (PROJ2999)</a:t>
            </a:r>
            <a:endParaRPr b="1" i="0" sz="1800" u="none" cap="none" strike="noStrike">
              <a:solidFill>
                <a:schemeClr val="lt1"/>
              </a:solidFill>
              <a:latin typeface="Verdana"/>
              <a:ea typeface="Verdana"/>
              <a:cs typeface="Verdana"/>
              <a:sym typeface="Verdana"/>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g31a516b0401_3_10"/>
          <p:cNvSpPr txBox="1"/>
          <p:nvPr/>
        </p:nvSpPr>
        <p:spPr>
          <a:xfrm>
            <a:off x="1000124" y="232275"/>
            <a:ext cx="10515600" cy="493857"/>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rgbClr val="000000"/>
                </a:solidFill>
                <a:latin typeface="Montserrat"/>
                <a:ea typeface="Montserrat"/>
                <a:cs typeface="Montserrat"/>
                <a:sym typeface="Montserrat"/>
              </a:rPr>
              <a:t>Objective and Goals</a:t>
            </a:r>
            <a:endParaRPr b="0" i="0" sz="1400" u="none" cap="none" strike="noStrike">
              <a:solidFill>
                <a:srgbClr val="000000"/>
              </a:solidFill>
              <a:latin typeface="Arial"/>
              <a:ea typeface="Arial"/>
              <a:cs typeface="Arial"/>
              <a:sym typeface="Arial"/>
            </a:endParaRPr>
          </a:p>
        </p:txBody>
      </p:sp>
      <p:sp>
        <p:nvSpPr>
          <p:cNvPr id="65" name="Google Shape;65;g31a516b0401_3_10"/>
          <p:cNvSpPr/>
          <p:nvPr/>
        </p:nvSpPr>
        <p:spPr>
          <a:xfrm>
            <a:off x="550606" y="765905"/>
            <a:ext cx="2114338" cy="302183"/>
          </a:xfrm>
          <a:prstGeom prst="roundRect">
            <a:avLst>
              <a:gd fmla="val 16667" name="adj"/>
            </a:avLst>
          </a:prstGeom>
          <a:solidFill>
            <a:srgbClr val="191919"/>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rPr b="1" i="0" lang="en-US" sz="2000" u="none" cap="none" strike="noStrike">
                <a:solidFill>
                  <a:schemeClr val="lt1"/>
                </a:solidFill>
                <a:latin typeface="Verdana"/>
                <a:ea typeface="Verdana"/>
                <a:cs typeface="Verdana"/>
                <a:sym typeface="Verdana"/>
              </a:rPr>
              <a:t>Objective </a:t>
            </a:r>
            <a:endParaRPr b="1" i="0" sz="1000" u="none" cap="none" strike="noStrike">
              <a:solidFill>
                <a:srgbClr val="000000"/>
              </a:solidFill>
              <a:latin typeface="Arial"/>
              <a:ea typeface="Arial"/>
              <a:cs typeface="Arial"/>
              <a:sym typeface="Arial"/>
            </a:endParaRPr>
          </a:p>
        </p:txBody>
      </p:sp>
      <p:sp>
        <p:nvSpPr>
          <p:cNvPr id="66" name="Google Shape;66;g31a516b0401_3_10"/>
          <p:cNvSpPr/>
          <p:nvPr/>
        </p:nvSpPr>
        <p:spPr>
          <a:xfrm>
            <a:off x="550606" y="2792200"/>
            <a:ext cx="2114400" cy="302100"/>
          </a:xfrm>
          <a:prstGeom prst="roundRect">
            <a:avLst>
              <a:gd fmla="val 16667" name="adj"/>
            </a:avLst>
          </a:prstGeom>
          <a:solidFill>
            <a:srgbClr val="191919"/>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rtl="0" algn="l">
              <a:lnSpc>
                <a:spcPct val="115000"/>
              </a:lnSpc>
              <a:spcBef>
                <a:spcPts val="1400"/>
              </a:spcBef>
              <a:spcAft>
                <a:spcPts val="400"/>
              </a:spcAft>
              <a:buNone/>
            </a:pPr>
            <a:r>
              <a:rPr b="1" lang="en-US" sz="1300">
                <a:solidFill>
                  <a:schemeClr val="lt1"/>
                </a:solidFill>
              </a:rPr>
              <a:t>Goals</a:t>
            </a:r>
            <a:endParaRPr b="1" i="0" sz="1000" u="none" cap="none" strike="noStrike">
              <a:solidFill>
                <a:schemeClr val="lt1"/>
              </a:solidFill>
              <a:latin typeface="Arial"/>
              <a:ea typeface="Arial"/>
              <a:cs typeface="Arial"/>
              <a:sym typeface="Arial"/>
            </a:endParaRPr>
          </a:p>
        </p:txBody>
      </p:sp>
      <p:sp>
        <p:nvSpPr>
          <p:cNvPr id="67" name="Google Shape;67;g31a516b0401_3_10"/>
          <p:cNvSpPr txBox="1"/>
          <p:nvPr/>
        </p:nvSpPr>
        <p:spPr>
          <a:xfrm>
            <a:off x="847675" y="1268350"/>
            <a:ext cx="10856400" cy="1077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lang="en-US" sz="1600"/>
              <a:t>To develop and validate a </a:t>
            </a:r>
            <a:r>
              <a:rPr b="1" lang="en-US" sz="1600"/>
              <a:t>GPS-independent, monocular camera-based localization and path reconstruction system</a:t>
            </a:r>
            <a:r>
              <a:rPr lang="en-US" sz="1600"/>
              <a:t> that accurately determines a vehicle's global position and orientation by integrating Visual Odometry (VO) with real-time semantic feature matching against digital map data (e.g., OpenStreetMap). The system aims to provide a low-cost, robust, and deployable solution for navigation in GPS-denied or degraded environments.</a:t>
            </a:r>
            <a:endParaRPr sz="1600"/>
          </a:p>
        </p:txBody>
      </p:sp>
      <p:sp>
        <p:nvSpPr>
          <p:cNvPr id="68" name="Google Shape;68;g31a516b0401_3_10"/>
          <p:cNvSpPr txBox="1"/>
          <p:nvPr/>
        </p:nvSpPr>
        <p:spPr>
          <a:xfrm>
            <a:off x="667425" y="3294550"/>
            <a:ext cx="11036700" cy="26922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200"/>
              </a:spcBef>
              <a:spcAft>
                <a:spcPts val="0"/>
              </a:spcAft>
              <a:buNone/>
            </a:pPr>
            <a:r>
              <a:rPr lang="en-US"/>
              <a:t>The primary goals of the Visual Map Mono project are to </a:t>
            </a:r>
            <a:r>
              <a:rPr b="1" lang="en-US"/>
              <a:t>implement robust visual odometry, develop a comprehensive semantic feature extraction pipeline, establish an efficient map data management and lookup system, design and implement an accurate pattern matching and localization module, achieve reliable path reconstruction and drift mitigation, and thoroughly evaluate the system's robustness and performance.</a:t>
            </a:r>
            <a:endParaRPr b="1"/>
          </a:p>
          <a:p>
            <a:pPr indent="-317500" lvl="0" marL="457200" rtl="0" algn="l">
              <a:lnSpc>
                <a:spcPct val="115000"/>
              </a:lnSpc>
              <a:spcBef>
                <a:spcPts val="1200"/>
              </a:spcBef>
              <a:spcAft>
                <a:spcPts val="0"/>
              </a:spcAft>
              <a:buSzPts val="1400"/>
              <a:buChar char="●"/>
            </a:pPr>
            <a:r>
              <a:rPr lang="en-US"/>
              <a:t>Implement Robust Visual Odometry </a:t>
            </a:r>
            <a:endParaRPr/>
          </a:p>
          <a:p>
            <a:pPr indent="-317500" lvl="0" marL="457200" rtl="0" algn="l">
              <a:lnSpc>
                <a:spcPct val="115000"/>
              </a:lnSpc>
              <a:spcBef>
                <a:spcPts val="0"/>
              </a:spcBef>
              <a:spcAft>
                <a:spcPts val="0"/>
              </a:spcAft>
              <a:buSzPts val="1400"/>
              <a:buChar char="●"/>
            </a:pPr>
            <a:r>
              <a:rPr lang="en-US"/>
              <a:t>Develop a Comprehensive Semantic Feature Extraction Pipeline</a:t>
            </a:r>
            <a:endParaRPr/>
          </a:p>
          <a:p>
            <a:pPr indent="-317500" lvl="0" marL="457200" rtl="0" algn="l">
              <a:lnSpc>
                <a:spcPct val="115000"/>
              </a:lnSpc>
              <a:spcBef>
                <a:spcPts val="0"/>
              </a:spcBef>
              <a:spcAft>
                <a:spcPts val="0"/>
              </a:spcAft>
              <a:buSzPts val="1400"/>
              <a:buChar char="●"/>
            </a:pPr>
            <a:r>
              <a:rPr lang="en-US"/>
              <a:t>Establish an Efficient Map Data Management &amp; Lookup System</a:t>
            </a:r>
            <a:endParaRPr/>
          </a:p>
          <a:p>
            <a:pPr indent="-317500" lvl="0" marL="457200" rtl="0" algn="l">
              <a:lnSpc>
                <a:spcPct val="115000"/>
              </a:lnSpc>
              <a:spcBef>
                <a:spcPts val="0"/>
              </a:spcBef>
              <a:spcAft>
                <a:spcPts val="0"/>
              </a:spcAft>
              <a:buSzPts val="1400"/>
              <a:buChar char="●"/>
            </a:pPr>
            <a:r>
              <a:rPr lang="en-US"/>
              <a:t>Design and Implement an Accurate Pattern Matching &amp; Localization Module</a:t>
            </a:r>
            <a:endParaRPr/>
          </a:p>
          <a:p>
            <a:pPr indent="-317500" lvl="0" marL="457200" rtl="0" algn="l">
              <a:lnSpc>
                <a:spcPct val="115000"/>
              </a:lnSpc>
              <a:spcBef>
                <a:spcPts val="0"/>
              </a:spcBef>
              <a:spcAft>
                <a:spcPts val="0"/>
              </a:spcAft>
              <a:buSzPts val="1400"/>
              <a:buChar char="●"/>
            </a:pPr>
            <a:r>
              <a:rPr lang="en-US"/>
              <a:t>Achieve Reliable Path Reconstruction and Drift Mitigation</a:t>
            </a:r>
            <a:endParaRPr/>
          </a:p>
          <a:p>
            <a:pPr indent="-317500" lvl="0" marL="457200" rtl="0" algn="l">
              <a:lnSpc>
                <a:spcPct val="115000"/>
              </a:lnSpc>
              <a:spcBef>
                <a:spcPts val="0"/>
              </a:spcBef>
              <a:spcAft>
                <a:spcPts val="0"/>
              </a:spcAft>
              <a:buSzPts val="1400"/>
              <a:buChar char="●"/>
            </a:pPr>
            <a:r>
              <a:rPr lang="en-US"/>
              <a:t>Evaluate System Robustness and Performance</a:t>
            </a:r>
            <a:endParaRPr/>
          </a:p>
        </p:txBody>
      </p:sp>
      <p:sp>
        <p:nvSpPr>
          <p:cNvPr id="69" name="Google Shape;69;g31a516b0401_3_10"/>
          <p:cNvSpPr txBox="1"/>
          <p:nvPr>
            <p:ph idx="12" type="sldNum"/>
          </p:nvPr>
        </p:nvSpPr>
        <p:spPr>
          <a:xfrm>
            <a:off x="9448799" y="6492875"/>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g31ae5748121_0_431"/>
          <p:cNvSpPr txBox="1"/>
          <p:nvPr>
            <p:ph idx="12" type="sldNum"/>
          </p:nvPr>
        </p:nvSpPr>
        <p:spPr>
          <a:xfrm>
            <a:off x="9448799" y="6492875"/>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75" name="Google Shape;75;g31ae5748121_0_431"/>
          <p:cNvSpPr txBox="1"/>
          <p:nvPr/>
        </p:nvSpPr>
        <p:spPr>
          <a:xfrm>
            <a:off x="1000124" y="232275"/>
            <a:ext cx="10515600" cy="493857"/>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rgbClr val="000000"/>
                </a:solidFill>
                <a:latin typeface="Montserrat"/>
                <a:ea typeface="Montserrat"/>
                <a:cs typeface="Montserrat"/>
                <a:sym typeface="Montserrat"/>
              </a:rPr>
              <a:t>Literature Survey</a:t>
            </a:r>
            <a:endParaRPr b="0" i="0" sz="1400" u="none" cap="none" strike="noStrike">
              <a:solidFill>
                <a:srgbClr val="000000"/>
              </a:solidFill>
              <a:latin typeface="Arial"/>
              <a:ea typeface="Arial"/>
              <a:cs typeface="Arial"/>
              <a:sym typeface="Arial"/>
            </a:endParaRPr>
          </a:p>
        </p:txBody>
      </p:sp>
      <p:sp>
        <p:nvSpPr>
          <p:cNvPr id="76" name="Google Shape;76;g31ae5748121_0_431"/>
          <p:cNvSpPr txBox="1"/>
          <p:nvPr/>
        </p:nvSpPr>
        <p:spPr>
          <a:xfrm>
            <a:off x="452283" y="766830"/>
            <a:ext cx="11326800" cy="57357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400"/>
              </a:spcBef>
              <a:spcAft>
                <a:spcPts val="0"/>
              </a:spcAft>
              <a:buNone/>
            </a:pPr>
            <a:r>
              <a:rPr b="1" lang="en-US" sz="1300"/>
              <a:t>Key Publications</a:t>
            </a:r>
            <a:endParaRPr b="1" sz="1300"/>
          </a:p>
          <a:p>
            <a:pPr indent="-298450" lvl="0" marL="457200" rtl="0" algn="l">
              <a:lnSpc>
                <a:spcPct val="115000"/>
              </a:lnSpc>
              <a:spcBef>
                <a:spcPts val="1200"/>
              </a:spcBef>
              <a:spcAft>
                <a:spcPts val="0"/>
              </a:spcAft>
              <a:buSzPts val="1100"/>
              <a:buAutoNum type="arabicPeriod"/>
            </a:pPr>
            <a:r>
              <a:rPr b="1" lang="en-US" sz="1100"/>
              <a:t>DROID-SLAM: Deep Visual SLAM for Monocular, Stereo, and RGB-D Cameras</a:t>
            </a:r>
            <a:br>
              <a:rPr b="1" lang="en-US" sz="1100"/>
            </a:br>
            <a:r>
              <a:rPr lang="en-US" sz="1100"/>
              <a:t> </a:t>
            </a:r>
            <a:r>
              <a:rPr i="1" lang="en-US" sz="1100"/>
              <a:t>Zhongjie Yu et al., NeurIPS 2021</a:t>
            </a:r>
            <a:r>
              <a:rPr lang="en-US" sz="1100"/>
              <a:t> – Introduces a deep learning–based SLAM system with recurrent feature alignment.</a:t>
            </a:r>
            <a:br>
              <a:rPr lang="en-US" sz="1100"/>
            </a:br>
            <a:endParaRPr sz="1100"/>
          </a:p>
          <a:p>
            <a:pPr indent="-298450" lvl="0" marL="457200" rtl="0" algn="l">
              <a:lnSpc>
                <a:spcPct val="115000"/>
              </a:lnSpc>
              <a:spcBef>
                <a:spcPts val="0"/>
              </a:spcBef>
              <a:spcAft>
                <a:spcPts val="0"/>
              </a:spcAft>
              <a:buSzPts val="1100"/>
              <a:buAutoNum type="arabicPeriod"/>
            </a:pPr>
            <a:r>
              <a:rPr b="1" lang="en-US" sz="1100"/>
              <a:t>SpatialTrackerV2: 3D Point Tracking Made Easy</a:t>
            </a:r>
            <a:br>
              <a:rPr b="1" lang="en-US" sz="1100"/>
            </a:br>
            <a:r>
              <a:rPr lang="en-US" sz="1100"/>
              <a:t> </a:t>
            </a:r>
            <a:r>
              <a:rPr i="1" lang="en-US" sz="1100"/>
              <a:t>Xu et al., CVPR 2024</a:t>
            </a:r>
            <a:r>
              <a:rPr lang="en-US" sz="1100"/>
              <a:t> – A learning-based method for dense 3D point tracking, relevant for robust SLAM/VO.</a:t>
            </a:r>
            <a:br>
              <a:rPr lang="en-US" sz="1100"/>
            </a:br>
            <a:endParaRPr sz="1100"/>
          </a:p>
          <a:p>
            <a:pPr indent="-298450" lvl="0" marL="457200" rtl="0" algn="l">
              <a:lnSpc>
                <a:spcPct val="115000"/>
              </a:lnSpc>
              <a:spcBef>
                <a:spcPts val="0"/>
              </a:spcBef>
              <a:spcAft>
                <a:spcPts val="0"/>
              </a:spcAft>
              <a:buSzPts val="1100"/>
              <a:buAutoNum type="arabicPeriod"/>
            </a:pPr>
            <a:r>
              <a:rPr b="1" lang="en-US" sz="1100"/>
              <a:t>ORB-SLAM: A Versatile and Accurate Monocular SLAM System</a:t>
            </a:r>
            <a:br>
              <a:rPr b="1" lang="en-US" sz="1100"/>
            </a:br>
            <a:r>
              <a:rPr lang="en-US" sz="1100"/>
              <a:t> </a:t>
            </a:r>
            <a:r>
              <a:rPr i="1" lang="en-US" sz="1100"/>
              <a:t>Mur-Artal, Montiel, Tardós, IEEE Trans. Robotics 2015</a:t>
            </a:r>
            <a:r>
              <a:rPr lang="en-US" sz="1100"/>
              <a:t> – One of the most widely used feature-based SLAM systems.</a:t>
            </a:r>
            <a:br>
              <a:rPr lang="en-US" sz="1100"/>
            </a:br>
            <a:endParaRPr sz="1100"/>
          </a:p>
          <a:p>
            <a:pPr indent="-298450" lvl="0" marL="457200" rtl="0" algn="l">
              <a:lnSpc>
                <a:spcPct val="115000"/>
              </a:lnSpc>
              <a:spcBef>
                <a:spcPts val="0"/>
              </a:spcBef>
              <a:spcAft>
                <a:spcPts val="0"/>
              </a:spcAft>
              <a:buSzPts val="1100"/>
              <a:buAutoNum type="arabicPeriod"/>
            </a:pPr>
            <a:r>
              <a:rPr b="1" lang="en-US" sz="1100"/>
              <a:t>ORB-SLAM3: An Accurate Open-Source Library for Visual, Visual-Inertial, and Multi-Map SLAM</a:t>
            </a:r>
            <a:br>
              <a:rPr b="1" lang="en-US" sz="1100"/>
            </a:br>
            <a:r>
              <a:rPr lang="en-US" sz="1100"/>
              <a:t> </a:t>
            </a:r>
            <a:r>
              <a:rPr i="1" lang="en-US" sz="1100"/>
              <a:t>Campos et al., IEEE Trans. Robotics 2021</a:t>
            </a:r>
            <a:r>
              <a:rPr lang="en-US" sz="1100"/>
              <a:t> – Extends ORB-SLAM with support for visual-inertial fusion and multiple maps.</a:t>
            </a:r>
            <a:br>
              <a:rPr lang="en-US" sz="1100"/>
            </a:br>
            <a:endParaRPr sz="1100"/>
          </a:p>
          <a:p>
            <a:pPr indent="-298450" lvl="0" marL="457200" rtl="0" algn="l">
              <a:lnSpc>
                <a:spcPct val="115000"/>
              </a:lnSpc>
              <a:spcBef>
                <a:spcPts val="0"/>
              </a:spcBef>
              <a:spcAft>
                <a:spcPts val="0"/>
              </a:spcAft>
              <a:buSzPts val="1100"/>
              <a:buAutoNum type="arabicPeriod"/>
            </a:pPr>
            <a:r>
              <a:rPr b="1" lang="en-US" sz="1100"/>
              <a:t>Monocular Visual SLAM, Visual Odometry, and Structure from Motion Methods Applied to 3D Reconstruction</a:t>
            </a:r>
            <a:br>
              <a:rPr b="1" lang="en-US" sz="1100"/>
            </a:br>
            <a:r>
              <a:rPr lang="en-US" sz="1100"/>
              <a:t> </a:t>
            </a:r>
            <a:r>
              <a:rPr i="1" lang="en-US" sz="1100"/>
              <a:t>Survey Paper</a:t>
            </a:r>
            <a:r>
              <a:rPr lang="en-US" sz="1100"/>
              <a:t> – Discusses foundations of VO, vSLAM, and SfM for 3D scene reconstruction.</a:t>
            </a:r>
            <a:br>
              <a:rPr lang="en-US" sz="1100"/>
            </a:br>
            <a:endParaRPr sz="1100"/>
          </a:p>
          <a:p>
            <a:pPr indent="-298450" lvl="0" marL="457200" rtl="0" algn="l">
              <a:lnSpc>
                <a:spcPct val="115000"/>
              </a:lnSpc>
              <a:spcBef>
                <a:spcPts val="0"/>
              </a:spcBef>
              <a:spcAft>
                <a:spcPts val="0"/>
              </a:spcAft>
              <a:buSzPts val="1100"/>
              <a:buAutoNum type="arabicPeriod"/>
            </a:pPr>
            <a:r>
              <a:rPr b="1" lang="en-US" sz="1100"/>
              <a:t>Deep Direct Visual Odometry</a:t>
            </a:r>
            <a:br>
              <a:rPr b="1" lang="en-US" sz="1100"/>
            </a:br>
            <a:r>
              <a:rPr lang="en-US" sz="1100"/>
              <a:t> </a:t>
            </a:r>
            <a:r>
              <a:rPr i="1" lang="en-US" sz="1100"/>
              <a:t>Zhou et al., CVPR 2017</a:t>
            </a:r>
            <a:r>
              <a:rPr lang="en-US" sz="1100"/>
              <a:t> – A pioneering deep learning approach to unsupervised monocular VO.</a:t>
            </a:r>
            <a:br>
              <a:rPr lang="en-US" sz="1100"/>
            </a:br>
            <a:endParaRPr sz="1100"/>
          </a:p>
          <a:p>
            <a:pPr indent="-298450" lvl="0" marL="457200" rtl="0" algn="l">
              <a:lnSpc>
                <a:spcPct val="115000"/>
              </a:lnSpc>
              <a:spcBef>
                <a:spcPts val="0"/>
              </a:spcBef>
              <a:spcAft>
                <a:spcPts val="0"/>
              </a:spcAft>
              <a:buSzPts val="1100"/>
              <a:buAutoNum type="arabicPeriod"/>
            </a:pPr>
            <a:r>
              <a:rPr b="1" lang="en-US" sz="1100"/>
              <a:t>Evolution of Visual Odometry Techniques</a:t>
            </a:r>
            <a:br>
              <a:rPr b="1" lang="en-US" sz="1100"/>
            </a:br>
            <a:r>
              <a:rPr lang="en-US" sz="1100"/>
              <a:t> </a:t>
            </a:r>
            <a:r>
              <a:rPr i="1" lang="en-US" sz="1100"/>
              <a:t>Review Article</a:t>
            </a:r>
            <a:r>
              <a:rPr lang="en-US" sz="1100"/>
              <a:t> – Comprehensive survey of VO development from geometric to learning-based methods.</a:t>
            </a:r>
            <a:br>
              <a:rPr lang="en-US" sz="1100"/>
            </a:br>
            <a:endParaRPr sz="1100"/>
          </a:p>
          <a:p>
            <a:pPr indent="-298450" lvl="0" marL="457200" rtl="0" algn="l">
              <a:lnSpc>
                <a:spcPct val="115000"/>
              </a:lnSpc>
              <a:spcBef>
                <a:spcPts val="0"/>
              </a:spcBef>
              <a:spcAft>
                <a:spcPts val="0"/>
              </a:spcAft>
              <a:buSzPts val="1100"/>
              <a:buAutoNum type="arabicPeriod"/>
            </a:pPr>
            <a:r>
              <a:rPr b="1" lang="en-US" sz="1100"/>
              <a:t>Feature-Based Monocular Visual Odometry for Autonomous Driving and Hyperparameter Tuning to Improve Trajectory Estimation</a:t>
            </a:r>
            <a:br>
              <a:rPr b="1" lang="en-US" sz="1100"/>
            </a:br>
            <a:r>
              <a:rPr lang="en-US" sz="1100"/>
              <a:t> </a:t>
            </a:r>
            <a:r>
              <a:rPr i="1" lang="en-US" sz="1100"/>
              <a:t>Applied Research Paper</a:t>
            </a:r>
            <a:r>
              <a:rPr lang="en-US" sz="1100"/>
              <a:t> – Focuses on feature tuning to improve VO accuracy in driving contexts.</a:t>
            </a:r>
            <a:br>
              <a:rPr lang="en-US" sz="1100"/>
            </a:br>
            <a:endParaRPr sz="1100"/>
          </a:p>
          <a:p>
            <a:pPr indent="-298450" lvl="0" marL="457200" rtl="0" algn="l">
              <a:lnSpc>
                <a:spcPct val="115000"/>
              </a:lnSpc>
              <a:spcBef>
                <a:spcPts val="0"/>
              </a:spcBef>
              <a:spcAft>
                <a:spcPts val="0"/>
              </a:spcAft>
              <a:buSzPts val="1100"/>
              <a:buAutoNum type="arabicPeriod"/>
            </a:pPr>
            <a:r>
              <a:rPr b="1" lang="en-US" sz="1100"/>
              <a:t>Understanding Visual SLAM for Robotics Perception: Building Monocular SLAM from Scratch in Python OpenCV</a:t>
            </a:r>
            <a:br>
              <a:rPr b="1" lang="en-US" sz="1100"/>
            </a:br>
            <a:r>
              <a:rPr lang="en-US" sz="1100"/>
              <a:t> </a:t>
            </a:r>
            <a:r>
              <a:rPr i="1" lang="en-US" sz="1100"/>
              <a:t>Educational Resource / Tutorial</a:t>
            </a:r>
            <a:r>
              <a:rPr lang="en-US" sz="1100"/>
              <a:t> – Guides beginners in building vSLAM pipelines for robotics perception.</a:t>
            </a:r>
            <a:endParaRPr sz="1100"/>
          </a:p>
          <a:p>
            <a:pPr indent="0" lvl="0" marL="0" marR="0" rtl="0" algn="l">
              <a:lnSpc>
                <a:spcPct val="100000"/>
              </a:lnSpc>
              <a:spcBef>
                <a:spcPts val="1200"/>
              </a:spcBef>
              <a:spcAft>
                <a:spcPts val="0"/>
              </a:spcAft>
              <a:buNone/>
            </a:pPr>
            <a:r>
              <a:t/>
            </a:r>
            <a:endParaRPr b="1">
              <a:latin typeface="Verdana"/>
              <a:ea typeface="Verdana"/>
              <a:cs typeface="Verdana"/>
              <a:sym typeface="Verdana"/>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g383c175d9e6_1_29"/>
          <p:cNvSpPr txBox="1"/>
          <p:nvPr>
            <p:ph idx="12" type="sldNum"/>
          </p:nvPr>
        </p:nvSpPr>
        <p:spPr>
          <a:xfrm>
            <a:off x="9448799" y="6492875"/>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
        <p:nvSpPr>
          <p:cNvPr id="83" name="Google Shape;83;g383c175d9e6_1_29"/>
          <p:cNvSpPr txBox="1"/>
          <p:nvPr/>
        </p:nvSpPr>
        <p:spPr>
          <a:xfrm>
            <a:off x="136100" y="293175"/>
            <a:ext cx="11862900" cy="6317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US" sz="1800"/>
              <a:t>Key Resources — Whitepapers | Application Notes | Datasheets | Algorithms | Modules | Others</a:t>
            </a:r>
            <a:endParaRPr b="1" sz="1800"/>
          </a:p>
          <a:p>
            <a:pPr indent="457200" lvl="0" marL="0" rtl="0" algn="l">
              <a:lnSpc>
                <a:spcPct val="115000"/>
              </a:lnSpc>
              <a:spcBef>
                <a:spcPts val="1200"/>
              </a:spcBef>
              <a:spcAft>
                <a:spcPts val="0"/>
              </a:spcAft>
              <a:buNone/>
            </a:pPr>
            <a:r>
              <a:rPr b="1" lang="en-US" sz="1600"/>
              <a:t>Algorithms &amp; Techniques</a:t>
            </a:r>
            <a:endParaRPr b="1" sz="1600"/>
          </a:p>
          <a:p>
            <a:pPr indent="-298450" lvl="0" marL="914400" rtl="0" algn="l">
              <a:lnSpc>
                <a:spcPct val="115000"/>
              </a:lnSpc>
              <a:spcBef>
                <a:spcPts val="1200"/>
              </a:spcBef>
              <a:spcAft>
                <a:spcPts val="0"/>
              </a:spcAft>
              <a:buSzPts val="1100"/>
              <a:buChar char="●"/>
            </a:pPr>
            <a:r>
              <a:rPr b="1" lang="en-US"/>
              <a:t>RAFT (Recurrent All-Pairs Field Transforms)</a:t>
            </a:r>
            <a:r>
              <a:rPr lang="en-US" sz="1100"/>
              <a:t> – </a:t>
            </a:r>
            <a:r>
              <a:rPr lang="en-US" sz="1300"/>
              <a:t>Computes dense optical flow between successive frames for motion estimation.</a:t>
            </a:r>
            <a:endParaRPr sz="1300"/>
          </a:p>
          <a:p>
            <a:pPr indent="-317500" lvl="0" marL="914400" rtl="0" algn="l">
              <a:lnSpc>
                <a:spcPct val="115000"/>
              </a:lnSpc>
              <a:spcBef>
                <a:spcPts val="0"/>
              </a:spcBef>
              <a:spcAft>
                <a:spcPts val="0"/>
              </a:spcAft>
              <a:buSzPts val="1400"/>
              <a:buChar char="●"/>
            </a:pPr>
            <a:r>
              <a:rPr b="1" lang="en-US"/>
              <a:t>Correlation Pyramid</a:t>
            </a:r>
            <a:r>
              <a:rPr lang="en-US"/>
              <a:t> – Multi-scale feature correlation for accurate frame-to-frame matching.</a:t>
            </a:r>
            <a:endParaRPr/>
          </a:p>
          <a:p>
            <a:pPr indent="-317500" lvl="0" marL="914400" rtl="0" algn="l">
              <a:lnSpc>
                <a:spcPct val="115000"/>
              </a:lnSpc>
              <a:spcBef>
                <a:spcPts val="0"/>
              </a:spcBef>
              <a:spcAft>
                <a:spcPts val="0"/>
              </a:spcAft>
              <a:buSzPts val="1400"/>
              <a:buChar char="●"/>
            </a:pPr>
            <a:r>
              <a:rPr b="1" lang="en-US"/>
              <a:t>Context Layer</a:t>
            </a:r>
            <a:r>
              <a:rPr lang="en-US"/>
              <a:t> – Neural network module for aggregating contextual features in deep VO/SLAM models.</a:t>
            </a:r>
            <a:endParaRPr/>
          </a:p>
          <a:p>
            <a:pPr indent="-317500" lvl="0" marL="914400" rtl="0" algn="l">
              <a:lnSpc>
                <a:spcPct val="115000"/>
              </a:lnSpc>
              <a:spcBef>
                <a:spcPts val="0"/>
              </a:spcBef>
              <a:spcAft>
                <a:spcPts val="0"/>
              </a:spcAft>
              <a:buSzPts val="1400"/>
              <a:buChar char="●"/>
            </a:pPr>
            <a:r>
              <a:rPr b="1" lang="en-US"/>
              <a:t>Feature Encoder / Keypoint Detector</a:t>
            </a:r>
            <a:r>
              <a:rPr lang="en-US"/>
              <a:t> – Extracts robust visual features from images for trajectory estimation.</a:t>
            </a:r>
            <a:endParaRPr/>
          </a:p>
          <a:p>
            <a:pPr indent="-317500" lvl="0" marL="914400" rtl="0" algn="l">
              <a:lnSpc>
                <a:spcPct val="115000"/>
              </a:lnSpc>
              <a:spcBef>
                <a:spcPts val="0"/>
              </a:spcBef>
              <a:spcAft>
                <a:spcPts val="0"/>
              </a:spcAft>
              <a:buSzPts val="1400"/>
              <a:buChar char="●"/>
            </a:pPr>
            <a:r>
              <a:rPr b="1" lang="en-US"/>
              <a:t>Pose Graph Optimization</a:t>
            </a:r>
            <a:r>
              <a:rPr lang="en-US"/>
              <a:t> – Backend optimization technique to correct trajectory drift using graph constraints.</a:t>
            </a:r>
            <a:endParaRPr/>
          </a:p>
          <a:p>
            <a:pPr indent="-317500" lvl="0" marL="914400" rtl="0" algn="l">
              <a:lnSpc>
                <a:spcPct val="115000"/>
              </a:lnSpc>
              <a:spcBef>
                <a:spcPts val="0"/>
              </a:spcBef>
              <a:spcAft>
                <a:spcPts val="0"/>
              </a:spcAft>
              <a:buSzPts val="1400"/>
              <a:buChar char="●"/>
            </a:pPr>
            <a:r>
              <a:rPr b="1" lang="en-US"/>
              <a:t>Bundle Adjustment (BA)</a:t>
            </a:r>
            <a:r>
              <a:rPr lang="en-US"/>
              <a:t> – Joint refinement of camera poses and 3D points in mapping.</a:t>
            </a:r>
            <a:endParaRPr/>
          </a:p>
          <a:p>
            <a:pPr indent="-317500" lvl="0" marL="914400" rtl="0" algn="l">
              <a:lnSpc>
                <a:spcPct val="115000"/>
              </a:lnSpc>
              <a:spcBef>
                <a:spcPts val="0"/>
              </a:spcBef>
              <a:spcAft>
                <a:spcPts val="0"/>
              </a:spcAft>
              <a:buSzPts val="1400"/>
              <a:buChar char="●"/>
            </a:pPr>
            <a:r>
              <a:rPr b="1" lang="en-US"/>
              <a:t>Depth Estimation Module</a:t>
            </a:r>
            <a:r>
              <a:rPr lang="en-US"/>
              <a:t> – Produces depth maps from monocular/stereo images to improve localization accuracy.</a:t>
            </a:r>
            <a:endParaRPr/>
          </a:p>
          <a:p>
            <a:pPr indent="-298450" lvl="0" marL="914400" rtl="0" algn="l">
              <a:lnSpc>
                <a:spcPct val="115000"/>
              </a:lnSpc>
              <a:spcBef>
                <a:spcPts val="0"/>
              </a:spcBef>
              <a:spcAft>
                <a:spcPts val="0"/>
              </a:spcAft>
              <a:buSzPts val="1100"/>
              <a:buChar char="●"/>
            </a:pPr>
            <a:r>
              <a:rPr b="1" lang="en-US"/>
              <a:t>Keyframe Selection Module</a:t>
            </a:r>
            <a:r>
              <a:rPr lang="en-US"/>
              <a:t> – Chooses representative frames to reduce computation and maintain map consistency.</a:t>
            </a:r>
            <a:endParaRPr sz="1100"/>
          </a:p>
          <a:p>
            <a:pPr indent="457200" lvl="0" marL="0" rtl="0" algn="l">
              <a:lnSpc>
                <a:spcPct val="115000"/>
              </a:lnSpc>
              <a:spcBef>
                <a:spcPts val="1200"/>
              </a:spcBef>
              <a:spcAft>
                <a:spcPts val="0"/>
              </a:spcAft>
              <a:buNone/>
            </a:pPr>
            <a:r>
              <a:rPr b="1" lang="en-US" sz="1600"/>
              <a:t>Datasets &amp; Benchmarks</a:t>
            </a:r>
            <a:endParaRPr b="1" sz="1600"/>
          </a:p>
          <a:p>
            <a:pPr indent="-317500" lvl="0" marL="914400" rtl="0" algn="l">
              <a:lnSpc>
                <a:spcPct val="115000"/>
              </a:lnSpc>
              <a:spcBef>
                <a:spcPts val="1200"/>
              </a:spcBef>
              <a:spcAft>
                <a:spcPts val="0"/>
              </a:spcAft>
              <a:buSzPts val="1400"/>
              <a:buChar char="●"/>
            </a:pPr>
            <a:r>
              <a:rPr b="1" lang="en-US"/>
              <a:t>Gitam SDV Lab Dataset</a:t>
            </a:r>
            <a:r>
              <a:rPr lang="en-US"/>
              <a:t> – Custom dataset collected from your autonomous vehicle for indoor and outdoor testing.</a:t>
            </a:r>
            <a:endParaRPr/>
          </a:p>
          <a:p>
            <a:pPr indent="-317500" lvl="0" marL="914400" rtl="0" algn="l">
              <a:lnSpc>
                <a:spcPct val="115000"/>
              </a:lnSpc>
              <a:spcBef>
                <a:spcPts val="0"/>
              </a:spcBef>
              <a:spcAft>
                <a:spcPts val="0"/>
              </a:spcAft>
              <a:buSzPts val="1400"/>
              <a:buChar char="●"/>
            </a:pPr>
            <a:r>
              <a:rPr b="1" lang="en-US"/>
              <a:t>KITTI Benchmark Dataset</a:t>
            </a:r>
            <a:r>
              <a:rPr lang="en-US"/>
              <a:t> – Standard outdoor VO/SLAM evaluation dataset.</a:t>
            </a:r>
            <a:endParaRPr/>
          </a:p>
          <a:p>
            <a:pPr indent="-317500" lvl="0" marL="914400" rtl="0" algn="l">
              <a:lnSpc>
                <a:spcPct val="115000"/>
              </a:lnSpc>
              <a:spcBef>
                <a:spcPts val="0"/>
              </a:spcBef>
              <a:spcAft>
                <a:spcPts val="0"/>
              </a:spcAft>
              <a:buSzPts val="1400"/>
              <a:buChar char="●"/>
            </a:pPr>
            <a:r>
              <a:rPr b="1" lang="en-US"/>
              <a:t>TUM RGB-D Dataset</a:t>
            </a:r>
            <a:r>
              <a:rPr lang="en-US"/>
              <a:t> – Indoor RGB-D dataset for SLAM and visual odometry validation.</a:t>
            </a:r>
            <a:endParaRPr/>
          </a:p>
          <a:p>
            <a:pPr indent="-317500" lvl="0" marL="914400" rtl="0" algn="l">
              <a:lnSpc>
                <a:spcPct val="115000"/>
              </a:lnSpc>
              <a:spcBef>
                <a:spcPts val="0"/>
              </a:spcBef>
              <a:spcAft>
                <a:spcPts val="0"/>
              </a:spcAft>
              <a:buSzPts val="1400"/>
              <a:buChar char="●"/>
            </a:pPr>
            <a:r>
              <a:rPr b="1" lang="en-US"/>
              <a:t>EuRoC MAV Dataset</a:t>
            </a:r>
            <a:r>
              <a:rPr lang="en-US"/>
              <a:t> – Visual-inertial dataset for evaluating SLAM in dynamic environments.</a:t>
            </a:r>
            <a:endParaRPr/>
          </a:p>
          <a:p>
            <a:pPr indent="0" lvl="0" marL="457200" rtl="0" algn="l">
              <a:lnSpc>
                <a:spcPct val="115000"/>
              </a:lnSpc>
              <a:spcBef>
                <a:spcPts val="1200"/>
              </a:spcBef>
              <a:spcAft>
                <a:spcPts val="0"/>
              </a:spcAft>
              <a:buNone/>
            </a:pPr>
            <a:r>
              <a:rPr b="1" lang="en-US" sz="1600"/>
              <a:t>Other Resources</a:t>
            </a:r>
            <a:endParaRPr b="1" sz="1600"/>
          </a:p>
          <a:p>
            <a:pPr indent="-317500" lvl="0" marL="914400" rtl="0" algn="l">
              <a:lnSpc>
                <a:spcPct val="115000"/>
              </a:lnSpc>
              <a:spcBef>
                <a:spcPts val="1200"/>
              </a:spcBef>
              <a:spcAft>
                <a:spcPts val="0"/>
              </a:spcAft>
              <a:buSzPts val="1400"/>
              <a:buChar char="●"/>
            </a:pPr>
            <a:r>
              <a:rPr b="1" lang="en-US"/>
              <a:t>OpenSLAM.org</a:t>
            </a:r>
            <a:r>
              <a:rPr lang="en-US"/>
              <a:t> – Collection of classical and modern SLAM algorithms.</a:t>
            </a:r>
            <a:endParaRPr/>
          </a:p>
          <a:p>
            <a:pPr indent="-317500" lvl="0" marL="914400" rtl="0" algn="l">
              <a:lnSpc>
                <a:spcPct val="115000"/>
              </a:lnSpc>
              <a:spcBef>
                <a:spcPts val="0"/>
              </a:spcBef>
              <a:spcAft>
                <a:spcPts val="0"/>
              </a:spcAft>
              <a:buSzPts val="1400"/>
              <a:buChar char="●"/>
            </a:pPr>
            <a:r>
              <a:rPr b="1" lang="en-US"/>
              <a:t>Awesome-SLAM GitHub List</a:t>
            </a:r>
            <a:r>
              <a:rPr lang="en-US"/>
              <a:t> – Curated repositories, tutorials, and tools for VO/SLAM.</a:t>
            </a:r>
            <a:endParaRPr/>
          </a:p>
          <a:p>
            <a:pPr indent="-317500" lvl="0" marL="914400" rtl="0" algn="l">
              <a:lnSpc>
                <a:spcPct val="115000"/>
              </a:lnSpc>
              <a:spcBef>
                <a:spcPts val="0"/>
              </a:spcBef>
              <a:spcAft>
                <a:spcPts val="0"/>
              </a:spcAft>
              <a:buSzPts val="1400"/>
              <a:buChar char="●"/>
            </a:pPr>
            <a:r>
              <a:rPr b="1" lang="en-US"/>
              <a:t>Python OpenCV Tutorials / Examples</a:t>
            </a:r>
            <a:r>
              <a:rPr lang="en-US"/>
              <a:t> – Implementation guides for building monocular vSLAM from scratch.</a:t>
            </a:r>
            <a:endParaRPr/>
          </a:p>
          <a:p>
            <a:pPr indent="0" lvl="0" marL="0" rtl="0" algn="l">
              <a:lnSpc>
                <a:spcPct val="115000"/>
              </a:lnSpc>
              <a:spcBef>
                <a:spcPts val="1200"/>
              </a:spcBef>
              <a:spcAft>
                <a:spcPts val="1200"/>
              </a:spcAft>
              <a:buNone/>
            </a:pPr>
            <a:r>
              <a:t/>
            </a:r>
            <a:endParaRPr sz="11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g383c175d9e6_1_47"/>
          <p:cNvSpPr txBox="1"/>
          <p:nvPr>
            <p:ph idx="12" type="sldNum"/>
          </p:nvPr>
        </p:nvSpPr>
        <p:spPr>
          <a:xfrm>
            <a:off x="9448799" y="6492875"/>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
        <p:nvSpPr>
          <p:cNvPr id="90" name="Google Shape;90;g383c175d9e6_1_47"/>
          <p:cNvSpPr txBox="1"/>
          <p:nvPr/>
        </p:nvSpPr>
        <p:spPr>
          <a:xfrm>
            <a:off x="0" y="0"/>
            <a:ext cx="12192000" cy="5210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600">
                <a:latin typeface="Verdana"/>
                <a:ea typeface="Verdana"/>
                <a:cs typeface="Verdana"/>
                <a:sym typeface="Verdana"/>
              </a:rPr>
              <a:t>Existing Implementations – Products | Open Source | GitHub etc </a:t>
            </a:r>
            <a:endParaRPr sz="1300"/>
          </a:p>
          <a:p>
            <a:pPr indent="0" lvl="0" marL="0" rtl="0" algn="l">
              <a:lnSpc>
                <a:spcPct val="115000"/>
              </a:lnSpc>
              <a:spcBef>
                <a:spcPts val="0"/>
              </a:spcBef>
              <a:spcAft>
                <a:spcPts val="0"/>
              </a:spcAft>
              <a:buNone/>
            </a:pPr>
            <a:r>
              <a:t/>
            </a:r>
            <a:endParaRPr sz="1100"/>
          </a:p>
          <a:p>
            <a:pPr indent="0" lvl="0" marL="457200" rtl="0" algn="l">
              <a:lnSpc>
                <a:spcPct val="115000"/>
              </a:lnSpc>
              <a:spcBef>
                <a:spcPts val="1400"/>
              </a:spcBef>
              <a:spcAft>
                <a:spcPts val="0"/>
              </a:spcAft>
              <a:buNone/>
            </a:pPr>
            <a:r>
              <a:rPr b="1" lang="en-US"/>
              <a:t>Key GitHub Projects</a:t>
            </a:r>
            <a:br>
              <a:rPr lang="en-US" u="sng">
                <a:solidFill>
                  <a:schemeClr val="hlink"/>
                </a:solidFill>
                <a:hlinkClick r:id="rId3"/>
              </a:rPr>
            </a:br>
            <a:endParaRPr sz="500" u="sng">
              <a:solidFill>
                <a:schemeClr val="hlink"/>
              </a:solidFill>
            </a:endParaRPr>
          </a:p>
          <a:p>
            <a:pPr indent="-317500" lvl="0" marL="914400" rtl="0" algn="l">
              <a:lnSpc>
                <a:spcPct val="115000"/>
              </a:lnSpc>
              <a:spcBef>
                <a:spcPts val="1200"/>
              </a:spcBef>
              <a:spcAft>
                <a:spcPts val="0"/>
              </a:spcAft>
              <a:buSzPts val="1400"/>
              <a:buChar char="●"/>
            </a:pPr>
            <a:r>
              <a:rPr b="1" lang="en-US"/>
              <a:t>DROID_slam – Deep learning-based SLAM for mono, stereo, and RGB-D</a:t>
            </a:r>
            <a:r>
              <a:rPr lang="en-US"/>
              <a:t> :</a:t>
            </a:r>
            <a:r>
              <a:rPr lang="en-US">
                <a:uFill>
                  <a:noFill/>
                </a:uFill>
                <a:hlinkClick r:id="rId4"/>
              </a:rPr>
              <a:t> </a:t>
            </a:r>
            <a:r>
              <a:rPr lang="en-US" u="sng">
                <a:solidFill>
                  <a:schemeClr val="hlink"/>
                </a:solidFill>
                <a:hlinkClick r:id="rId5"/>
              </a:rPr>
              <a:t>https://github.com/princeton-vl/DROID-SLAM</a:t>
            </a:r>
            <a:br>
              <a:rPr lang="en-US" u="sng">
                <a:solidFill>
                  <a:schemeClr val="hlink"/>
                </a:solidFill>
                <a:hlinkClick r:id="rId6"/>
              </a:rPr>
            </a:br>
            <a:endParaRPr sz="500" u="sng">
              <a:solidFill>
                <a:schemeClr val="hlink"/>
              </a:solidFill>
            </a:endParaRPr>
          </a:p>
          <a:p>
            <a:pPr indent="-317500" lvl="0" marL="914400" rtl="0" algn="l">
              <a:lnSpc>
                <a:spcPct val="115000"/>
              </a:lnSpc>
              <a:spcBef>
                <a:spcPts val="0"/>
              </a:spcBef>
              <a:spcAft>
                <a:spcPts val="0"/>
              </a:spcAft>
              <a:buSzPts val="1400"/>
              <a:buChar char="●"/>
            </a:pPr>
            <a:r>
              <a:rPr b="1" lang="en-US"/>
              <a:t>SpatialTracker – Visual-inertial tracking framework</a:t>
            </a:r>
            <a:r>
              <a:rPr lang="en-US"/>
              <a:t> :</a:t>
            </a:r>
            <a:r>
              <a:rPr lang="en-US">
                <a:uFill>
                  <a:noFill/>
                </a:uFill>
                <a:hlinkClick r:id="rId7"/>
              </a:rPr>
              <a:t> </a:t>
            </a:r>
            <a:r>
              <a:rPr lang="en-US" u="sng">
                <a:solidFill>
                  <a:schemeClr val="hlink"/>
                </a:solidFill>
                <a:hlinkClick r:id="rId8"/>
              </a:rPr>
              <a:t>https://github.com/henry123-boy/SpaTrackerV2 </a:t>
            </a:r>
            <a:br>
              <a:rPr lang="en-US" u="sng">
                <a:solidFill>
                  <a:schemeClr val="hlink"/>
                </a:solidFill>
                <a:hlinkClick r:id="rId9"/>
              </a:rPr>
            </a:br>
            <a:endParaRPr sz="500" u="sng">
              <a:solidFill>
                <a:schemeClr val="hlink"/>
              </a:solidFill>
            </a:endParaRPr>
          </a:p>
          <a:p>
            <a:pPr indent="-317500" lvl="0" marL="914400" rtl="0" algn="l">
              <a:lnSpc>
                <a:spcPct val="115000"/>
              </a:lnSpc>
              <a:spcBef>
                <a:spcPts val="0"/>
              </a:spcBef>
              <a:spcAft>
                <a:spcPts val="0"/>
              </a:spcAft>
              <a:buSzPts val="1400"/>
              <a:buChar char="●"/>
            </a:pPr>
            <a:r>
              <a:rPr b="1" lang="en-US"/>
              <a:t>ORB_SLAM2 – Feature-based monocular/stereo SLAM</a:t>
            </a:r>
            <a:r>
              <a:rPr lang="en-US"/>
              <a:t> :</a:t>
            </a:r>
            <a:r>
              <a:rPr lang="en-US">
                <a:uFill>
                  <a:noFill/>
                </a:uFill>
                <a:hlinkClick r:id="rId10"/>
              </a:rPr>
              <a:t> </a:t>
            </a:r>
            <a:r>
              <a:rPr lang="en-US" u="sng">
                <a:solidFill>
                  <a:schemeClr val="hlink"/>
                </a:solidFill>
                <a:hlinkClick r:id="rId11"/>
              </a:rPr>
              <a:t>https://github.com/raulmur/ORB_SLAM2</a:t>
            </a:r>
            <a:br>
              <a:rPr lang="en-US" u="sng">
                <a:solidFill>
                  <a:schemeClr val="hlink"/>
                </a:solidFill>
                <a:hlinkClick r:id="rId12"/>
              </a:rPr>
            </a:br>
            <a:endParaRPr sz="500" u="sng">
              <a:solidFill>
                <a:schemeClr val="hlink"/>
              </a:solidFill>
            </a:endParaRPr>
          </a:p>
          <a:p>
            <a:pPr indent="-317500" lvl="0" marL="914400" rtl="0" algn="l">
              <a:lnSpc>
                <a:spcPct val="115000"/>
              </a:lnSpc>
              <a:spcBef>
                <a:spcPts val="0"/>
              </a:spcBef>
              <a:spcAft>
                <a:spcPts val="0"/>
              </a:spcAft>
              <a:buSzPts val="1400"/>
              <a:buChar char="●"/>
            </a:pPr>
            <a:r>
              <a:rPr b="1" lang="en-US"/>
              <a:t>ORB_SLAM – Original ORB-SLAM repository</a:t>
            </a:r>
            <a:r>
              <a:rPr lang="en-US"/>
              <a:t> :</a:t>
            </a:r>
            <a:r>
              <a:rPr lang="en-US">
                <a:uFill>
                  <a:noFill/>
                </a:uFill>
                <a:hlinkClick r:id="rId13"/>
              </a:rPr>
              <a:t> </a:t>
            </a:r>
            <a:r>
              <a:rPr lang="en-US" u="sng">
                <a:solidFill>
                  <a:schemeClr val="hlink"/>
                </a:solidFill>
                <a:hlinkClick r:id="rId14"/>
              </a:rPr>
              <a:t>https://github.com/raulmur/ORB_SLAM</a:t>
            </a:r>
            <a:br>
              <a:rPr lang="en-US" u="sng">
                <a:solidFill>
                  <a:schemeClr val="hlink"/>
                </a:solidFill>
                <a:hlinkClick r:id="rId15"/>
              </a:rPr>
            </a:br>
            <a:endParaRPr sz="500" u="sng">
              <a:solidFill>
                <a:schemeClr val="hlink"/>
              </a:solidFill>
            </a:endParaRPr>
          </a:p>
          <a:p>
            <a:pPr indent="-317500" lvl="0" marL="914400" rtl="0" algn="l">
              <a:lnSpc>
                <a:spcPct val="115000"/>
              </a:lnSpc>
              <a:spcBef>
                <a:spcPts val="0"/>
              </a:spcBef>
              <a:spcAft>
                <a:spcPts val="0"/>
              </a:spcAft>
              <a:buSzPts val="1400"/>
              <a:buChar char="●"/>
            </a:pPr>
            <a:r>
              <a:rPr b="1" lang="en-US"/>
              <a:t>DPVO – Deep Patch Visual Odometry; deep learning-based VO</a:t>
            </a:r>
            <a:r>
              <a:rPr lang="en-US"/>
              <a:t> :</a:t>
            </a:r>
            <a:r>
              <a:rPr lang="en-US">
                <a:uFill>
                  <a:noFill/>
                </a:uFill>
                <a:hlinkClick r:id="rId16"/>
              </a:rPr>
              <a:t> </a:t>
            </a:r>
            <a:r>
              <a:rPr lang="en-US" u="sng">
                <a:solidFill>
                  <a:schemeClr val="hlink"/>
                </a:solidFill>
                <a:hlinkClick r:id="rId17"/>
              </a:rPr>
              <a:t>https://github.com/thippeswammy/DPVO</a:t>
            </a:r>
            <a:br>
              <a:rPr lang="en-US" u="sng">
                <a:solidFill>
                  <a:schemeClr val="hlink"/>
                </a:solidFill>
                <a:hlinkClick r:id="rId18"/>
              </a:rPr>
            </a:br>
            <a:endParaRPr sz="500" u="sng">
              <a:solidFill>
                <a:schemeClr val="hlink"/>
              </a:solidFill>
            </a:endParaRPr>
          </a:p>
          <a:p>
            <a:pPr indent="-317500" lvl="0" marL="914400" rtl="0" algn="l">
              <a:lnSpc>
                <a:spcPct val="115000"/>
              </a:lnSpc>
              <a:spcBef>
                <a:spcPts val="0"/>
              </a:spcBef>
              <a:spcAft>
                <a:spcPts val="0"/>
              </a:spcAft>
              <a:buSzPts val="1400"/>
              <a:buChar char="●"/>
            </a:pPr>
            <a:r>
              <a:rPr b="1" lang="en-US"/>
              <a:t>PyCuVSLAM – GPU-accelerated visual SLAM</a:t>
            </a:r>
            <a:r>
              <a:rPr lang="en-US"/>
              <a:t> :</a:t>
            </a:r>
            <a:r>
              <a:rPr lang="en-US">
                <a:uFill>
                  <a:noFill/>
                </a:uFill>
                <a:hlinkClick r:id="rId19"/>
              </a:rPr>
              <a:t> </a:t>
            </a:r>
            <a:r>
              <a:rPr lang="en-US" u="sng">
                <a:solidFill>
                  <a:schemeClr val="hlink"/>
                </a:solidFill>
                <a:hlinkClick r:id="rId20"/>
              </a:rPr>
              <a:t>https://github.com/NVlabs/PyCuVSLAM</a:t>
            </a:r>
            <a:br>
              <a:rPr lang="en-US" u="sng">
                <a:solidFill>
                  <a:schemeClr val="hlink"/>
                </a:solidFill>
                <a:hlinkClick r:id="rId21"/>
              </a:rPr>
            </a:br>
            <a:endParaRPr sz="500" u="sng">
              <a:solidFill>
                <a:schemeClr val="hlink"/>
              </a:solidFill>
            </a:endParaRPr>
          </a:p>
          <a:p>
            <a:pPr indent="-317500" lvl="0" marL="914400" rtl="0" algn="l">
              <a:lnSpc>
                <a:spcPct val="115000"/>
              </a:lnSpc>
              <a:spcBef>
                <a:spcPts val="0"/>
              </a:spcBef>
              <a:spcAft>
                <a:spcPts val="0"/>
              </a:spcAft>
              <a:buSzPts val="1400"/>
              <a:buChar char="●"/>
            </a:pPr>
            <a:r>
              <a:rPr b="1" lang="en-US"/>
              <a:t>LongSplat – Large-scale deep SLAM and mapping</a:t>
            </a:r>
            <a:r>
              <a:rPr lang="en-US"/>
              <a:t> :</a:t>
            </a:r>
            <a:r>
              <a:rPr lang="en-US">
                <a:uFill>
                  <a:noFill/>
                </a:uFill>
                <a:hlinkClick r:id="rId22"/>
              </a:rPr>
              <a:t> </a:t>
            </a:r>
            <a:r>
              <a:rPr lang="en-US" u="sng">
                <a:solidFill>
                  <a:schemeClr val="hlink"/>
                </a:solidFill>
                <a:hlinkClick r:id="rId23"/>
              </a:rPr>
              <a:t>https://github.com/NVlabs/LongSplat</a:t>
            </a:r>
            <a:br>
              <a:rPr lang="en-US" u="sng">
                <a:solidFill>
                  <a:schemeClr val="hlink"/>
                </a:solidFill>
                <a:hlinkClick r:id="rId24"/>
              </a:rPr>
            </a:br>
            <a:endParaRPr sz="500" u="sng">
              <a:solidFill>
                <a:schemeClr val="hlink"/>
              </a:solidFill>
            </a:endParaRPr>
          </a:p>
          <a:p>
            <a:pPr indent="-317500" lvl="0" marL="914400" rtl="0" algn="l">
              <a:lnSpc>
                <a:spcPct val="115000"/>
              </a:lnSpc>
              <a:spcBef>
                <a:spcPts val="0"/>
              </a:spcBef>
              <a:spcAft>
                <a:spcPts val="0"/>
              </a:spcAft>
              <a:buSzPts val="1400"/>
              <a:buChar char="●"/>
            </a:pPr>
            <a:r>
              <a:rPr b="1" lang="en-US"/>
              <a:t>VOLDOR – Visual odometry &amp; deep reinforcement learning</a:t>
            </a:r>
            <a:r>
              <a:rPr lang="en-US"/>
              <a:t> :</a:t>
            </a:r>
            <a:r>
              <a:rPr lang="en-US">
                <a:uFill>
                  <a:noFill/>
                </a:uFill>
                <a:hlinkClick r:id="rId25"/>
              </a:rPr>
              <a:t> </a:t>
            </a:r>
            <a:r>
              <a:rPr lang="en-US" u="sng">
                <a:solidFill>
                  <a:schemeClr val="hlink"/>
                </a:solidFill>
                <a:hlinkClick r:id="rId26"/>
              </a:rPr>
              <a:t>https://github.com/htkseason/VOLDOR</a:t>
            </a:r>
            <a:br>
              <a:rPr lang="en-US" u="sng">
                <a:solidFill>
                  <a:schemeClr val="hlink"/>
                </a:solidFill>
                <a:hlinkClick r:id="rId27"/>
              </a:rPr>
            </a:br>
            <a:endParaRPr sz="500" u="sng">
              <a:solidFill>
                <a:schemeClr val="hlink"/>
              </a:solidFill>
            </a:endParaRPr>
          </a:p>
          <a:p>
            <a:pPr indent="-317500" lvl="0" marL="914400" rtl="0" algn="l">
              <a:lnSpc>
                <a:spcPct val="115000"/>
              </a:lnSpc>
              <a:spcBef>
                <a:spcPts val="0"/>
              </a:spcBef>
              <a:spcAft>
                <a:spcPts val="0"/>
              </a:spcAft>
              <a:buSzPts val="1400"/>
              <a:buChar char="●"/>
            </a:pPr>
            <a:r>
              <a:rPr b="1" lang="en-US"/>
              <a:t>NVIDIA Isaac ROS Visual SLAM – ROS-integrated visual SLAM</a:t>
            </a:r>
            <a:r>
              <a:rPr lang="en-US"/>
              <a:t> :</a:t>
            </a:r>
            <a:r>
              <a:rPr lang="en-US">
                <a:uFill>
                  <a:noFill/>
                </a:uFill>
                <a:hlinkClick r:id="rId28"/>
              </a:rPr>
              <a:t> </a:t>
            </a:r>
            <a:r>
              <a:rPr lang="en-US" u="sng">
                <a:solidFill>
                  <a:schemeClr val="hlink"/>
                </a:solidFill>
                <a:hlinkClick r:id="rId29"/>
              </a:rPr>
              <a:t>https://github.com/NVIDIA-ISAAC-ROS/isaac_ros_visual_slam</a:t>
            </a:r>
            <a:br>
              <a:rPr lang="en-US" u="sng">
                <a:solidFill>
                  <a:schemeClr val="hlink"/>
                </a:solidFill>
                <a:hlinkClick r:id="rId30"/>
              </a:rPr>
            </a:br>
            <a:endParaRPr sz="500" u="sng">
              <a:solidFill>
                <a:schemeClr val="hlink"/>
              </a:solidFill>
            </a:endParaRPr>
          </a:p>
          <a:p>
            <a:pPr indent="-317500" lvl="0" marL="914400" rtl="0" algn="l">
              <a:lnSpc>
                <a:spcPct val="115000"/>
              </a:lnSpc>
              <a:spcBef>
                <a:spcPts val="0"/>
              </a:spcBef>
              <a:spcAft>
                <a:spcPts val="0"/>
              </a:spcAft>
              <a:buSzPts val="1400"/>
              <a:buChar char="●"/>
            </a:pPr>
            <a:r>
              <a:rPr b="1" lang="en-US"/>
              <a:t>DVO_SLAM – Dense visual odometry SLAM</a:t>
            </a:r>
            <a:r>
              <a:rPr lang="en-US"/>
              <a:t> :</a:t>
            </a:r>
            <a:r>
              <a:rPr lang="en-US">
                <a:uFill>
                  <a:noFill/>
                </a:uFill>
                <a:hlinkClick r:id="rId31"/>
              </a:rPr>
              <a:t> </a:t>
            </a:r>
            <a:r>
              <a:rPr lang="en-US" u="sng">
                <a:solidFill>
                  <a:schemeClr val="hlink"/>
                </a:solidFill>
                <a:hlinkClick r:id="rId32"/>
              </a:rPr>
              <a:t>https://github.com/tum-vision/dvo_slam</a:t>
            </a:r>
            <a:br>
              <a:rPr lang="en-US" u="sng">
                <a:solidFill>
                  <a:schemeClr val="hlink"/>
                </a:solidFill>
                <a:hlinkClick r:id="rId33"/>
              </a:rPr>
            </a:br>
            <a:endParaRPr sz="500" u="sng">
              <a:solidFill>
                <a:schemeClr val="hlink"/>
              </a:solidFill>
            </a:endParaRPr>
          </a:p>
          <a:p>
            <a:pPr indent="-317500" lvl="0" marL="914400" rtl="0" algn="l">
              <a:lnSpc>
                <a:spcPct val="115000"/>
              </a:lnSpc>
              <a:spcBef>
                <a:spcPts val="0"/>
              </a:spcBef>
              <a:spcAft>
                <a:spcPts val="0"/>
              </a:spcAft>
              <a:buSzPts val="1400"/>
              <a:buChar char="●"/>
            </a:pPr>
            <a:r>
              <a:rPr b="1" lang="en-US"/>
              <a:t>Depth-VO-Feat – Depth and VO feature-based method</a:t>
            </a:r>
            <a:r>
              <a:rPr lang="en-US"/>
              <a:t> :</a:t>
            </a:r>
            <a:r>
              <a:rPr lang="en-US">
                <a:uFill>
                  <a:noFill/>
                </a:uFill>
                <a:hlinkClick r:id="rId34"/>
              </a:rPr>
              <a:t> </a:t>
            </a:r>
            <a:r>
              <a:rPr lang="en-US" u="sng">
                <a:solidFill>
                  <a:schemeClr val="hlink"/>
                </a:solidFill>
                <a:hlinkClick r:id="rId35"/>
              </a:rPr>
              <a:t>https://github.com/Huangying-Zhan/Depth-VO-Feat</a:t>
            </a:r>
            <a:br>
              <a:rPr lang="en-US" u="sng">
                <a:solidFill>
                  <a:schemeClr val="hlink"/>
                </a:solidFill>
                <a:hlinkClick r:id="rId36"/>
              </a:rPr>
            </a:br>
            <a:endParaRPr sz="500" u="sng">
              <a:solidFill>
                <a:schemeClr val="hlink"/>
              </a:solidFill>
            </a:endParaRPr>
          </a:p>
          <a:p>
            <a:pPr indent="-317500" lvl="0" marL="914400" rtl="0" algn="l">
              <a:lnSpc>
                <a:spcPct val="115000"/>
              </a:lnSpc>
              <a:spcBef>
                <a:spcPts val="0"/>
              </a:spcBef>
              <a:spcAft>
                <a:spcPts val="0"/>
              </a:spcAft>
              <a:buSzPts val="1400"/>
              <a:buChar char="●"/>
            </a:pPr>
            <a:r>
              <a:rPr b="1" lang="en-US"/>
              <a:t>DF-VO – Deep Feature Visual Odometry</a:t>
            </a:r>
            <a:r>
              <a:rPr lang="en-US"/>
              <a:t> :</a:t>
            </a:r>
            <a:r>
              <a:rPr lang="en-US">
                <a:uFill>
                  <a:noFill/>
                </a:uFill>
                <a:hlinkClick r:id="rId37"/>
              </a:rPr>
              <a:t> </a:t>
            </a:r>
            <a:r>
              <a:rPr lang="en-US" u="sng">
                <a:solidFill>
                  <a:schemeClr val="hlink"/>
                </a:solidFill>
                <a:hlinkClick r:id="rId38"/>
              </a:rPr>
              <a:t>https://github.com/Huangying-Zhan/DF-VO</a:t>
            </a:r>
            <a:endParaRPr b="1"/>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g30ef4e68118_0_40"/>
          <p:cNvSpPr txBox="1"/>
          <p:nvPr>
            <p:ph idx="12" type="sldNum"/>
          </p:nvPr>
        </p:nvSpPr>
        <p:spPr>
          <a:xfrm>
            <a:off x="9448799" y="6492875"/>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96" name="Google Shape;96;g30ef4e68118_0_40"/>
          <p:cNvSpPr txBox="1"/>
          <p:nvPr/>
        </p:nvSpPr>
        <p:spPr>
          <a:xfrm>
            <a:off x="146675" y="252600"/>
            <a:ext cx="2870700" cy="4938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rgbClr val="000000"/>
                </a:solidFill>
                <a:latin typeface="Montserrat"/>
                <a:ea typeface="Montserrat"/>
                <a:cs typeface="Montserrat"/>
                <a:sym typeface="Montserrat"/>
              </a:rPr>
              <a:t>Architecture  </a:t>
            </a:r>
            <a:endParaRPr b="0" i="0" sz="1400" u="none" cap="none" strike="noStrike">
              <a:solidFill>
                <a:srgbClr val="000000"/>
              </a:solidFill>
              <a:latin typeface="Arial"/>
              <a:ea typeface="Arial"/>
              <a:cs typeface="Arial"/>
              <a:sym typeface="Arial"/>
            </a:endParaRPr>
          </a:p>
        </p:txBody>
      </p:sp>
      <p:pic>
        <p:nvPicPr>
          <p:cNvPr id="97" name="Google Shape;97;g30ef4e68118_0_40"/>
          <p:cNvPicPr preferRelativeResize="0"/>
          <p:nvPr/>
        </p:nvPicPr>
        <p:blipFill>
          <a:blip r:embed="rId3">
            <a:alphaModFix/>
          </a:blip>
          <a:stretch>
            <a:fillRect/>
          </a:stretch>
        </p:blipFill>
        <p:spPr>
          <a:xfrm>
            <a:off x="3437875" y="635325"/>
            <a:ext cx="5827075" cy="56734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g38464e8348c_1_33"/>
          <p:cNvSpPr txBox="1"/>
          <p:nvPr>
            <p:ph idx="12" type="sldNum"/>
          </p:nvPr>
        </p:nvSpPr>
        <p:spPr>
          <a:xfrm>
            <a:off x="9448799" y="6492875"/>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03" name="Google Shape;103;g38464e8348c_1_33"/>
          <p:cNvSpPr txBox="1"/>
          <p:nvPr/>
        </p:nvSpPr>
        <p:spPr>
          <a:xfrm>
            <a:off x="4981450" y="0"/>
            <a:ext cx="2323200" cy="345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1" i="0" lang="en-US" sz="1600" u="none" cap="none" strike="noStrike">
                <a:solidFill>
                  <a:srgbClr val="000000"/>
                </a:solidFill>
                <a:latin typeface="Montserrat"/>
                <a:ea typeface="Montserrat"/>
                <a:cs typeface="Montserrat"/>
                <a:sym typeface="Montserrat"/>
              </a:rPr>
              <a:t>Use Cases &amp; Testing</a:t>
            </a:r>
            <a:endParaRPr b="0" i="0" sz="1600" u="none" cap="none" strike="noStrike">
              <a:solidFill>
                <a:srgbClr val="000000"/>
              </a:solidFill>
              <a:latin typeface="Arial"/>
              <a:ea typeface="Arial"/>
              <a:cs typeface="Arial"/>
              <a:sym typeface="Arial"/>
            </a:endParaRPr>
          </a:p>
        </p:txBody>
      </p:sp>
      <p:sp>
        <p:nvSpPr>
          <p:cNvPr id="104" name="Google Shape;104;g38464e8348c_1_33"/>
          <p:cNvSpPr txBox="1"/>
          <p:nvPr/>
        </p:nvSpPr>
        <p:spPr>
          <a:xfrm>
            <a:off x="0" y="345350"/>
            <a:ext cx="6527400" cy="65127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400"/>
              </a:spcBef>
              <a:spcAft>
                <a:spcPts val="0"/>
              </a:spcAft>
              <a:buNone/>
            </a:pPr>
            <a:r>
              <a:rPr b="1" lang="en-US" sz="1300"/>
              <a:t>Test Cases</a:t>
            </a:r>
            <a:endParaRPr b="1" sz="1300"/>
          </a:p>
          <a:p>
            <a:pPr indent="0" lvl="0" marL="0" rtl="0" algn="l">
              <a:lnSpc>
                <a:spcPct val="115000"/>
              </a:lnSpc>
              <a:spcBef>
                <a:spcPts val="1200"/>
              </a:spcBef>
              <a:spcAft>
                <a:spcPts val="0"/>
              </a:spcAft>
              <a:buNone/>
            </a:pPr>
            <a:r>
              <a:rPr b="1" lang="en-US" sz="1100"/>
              <a:t>Map Matching Accuracy &amp; Precision</a:t>
            </a:r>
            <a:endParaRPr b="1" sz="1100"/>
          </a:p>
          <a:p>
            <a:pPr indent="-298450" lvl="0" marL="457200" rtl="0" algn="l">
              <a:lnSpc>
                <a:spcPct val="115000"/>
              </a:lnSpc>
              <a:spcBef>
                <a:spcPts val="1200"/>
              </a:spcBef>
              <a:spcAft>
                <a:spcPts val="0"/>
              </a:spcAft>
              <a:buSzPts val="1100"/>
              <a:buChar char="●"/>
            </a:pPr>
            <a:r>
              <a:rPr b="1" lang="en-US" sz="1100"/>
              <a:t>Static Feature Matching:</a:t>
            </a:r>
            <a:r>
              <a:rPr lang="en-US" sz="1100"/>
              <a:t> Identify &amp; match known semantic features (signboards, junctions) → measure localization error (position, heading).</a:t>
            </a:r>
            <a:endParaRPr sz="1100"/>
          </a:p>
          <a:p>
            <a:pPr indent="-298450" lvl="0" marL="457200" rtl="0" algn="l">
              <a:lnSpc>
                <a:spcPct val="115000"/>
              </a:lnSpc>
              <a:spcBef>
                <a:spcPts val="0"/>
              </a:spcBef>
              <a:spcAft>
                <a:spcPts val="0"/>
              </a:spcAft>
              <a:buSzPts val="1100"/>
              <a:buChar char="●"/>
            </a:pPr>
            <a:r>
              <a:rPr b="1" lang="en-US" sz="1100"/>
              <a:t>Dynamic Feature Matching (Concept):</a:t>
            </a:r>
            <a:r>
              <a:rPr lang="en-US" sz="1100"/>
              <a:t> Use dynamically updated POIs for re-localization.</a:t>
            </a:r>
            <a:endParaRPr sz="1100"/>
          </a:p>
          <a:p>
            <a:pPr indent="0" lvl="0" marL="0" rtl="0" algn="l">
              <a:lnSpc>
                <a:spcPct val="115000"/>
              </a:lnSpc>
              <a:spcBef>
                <a:spcPts val="1200"/>
              </a:spcBef>
              <a:spcAft>
                <a:spcPts val="0"/>
              </a:spcAft>
              <a:buNone/>
            </a:pPr>
            <a:r>
              <a:rPr b="1" lang="en-US" sz="1100"/>
              <a:t>Visual Odometry (VO) Drift Mitigation</a:t>
            </a:r>
            <a:endParaRPr b="1" sz="1100"/>
          </a:p>
          <a:p>
            <a:pPr indent="-298450" lvl="0" marL="457200" rtl="0" algn="l">
              <a:lnSpc>
                <a:spcPct val="115000"/>
              </a:lnSpc>
              <a:spcBef>
                <a:spcPts val="1200"/>
              </a:spcBef>
              <a:spcAft>
                <a:spcPts val="0"/>
              </a:spcAft>
              <a:buSzPts val="1100"/>
              <a:buChar char="●"/>
            </a:pPr>
            <a:r>
              <a:rPr b="1" lang="en-US" sz="1100"/>
              <a:t>Long-Term Trajectory Consistency:</a:t>
            </a:r>
            <a:r>
              <a:rPr lang="en-US" sz="1100"/>
              <a:t> Measure VO drift reduction via continuous map matching.</a:t>
            </a:r>
            <a:endParaRPr sz="1100"/>
          </a:p>
          <a:p>
            <a:pPr indent="-298450" lvl="0" marL="457200" rtl="0" algn="l">
              <a:lnSpc>
                <a:spcPct val="115000"/>
              </a:lnSpc>
              <a:spcBef>
                <a:spcPts val="0"/>
              </a:spcBef>
              <a:spcAft>
                <a:spcPts val="0"/>
              </a:spcAft>
              <a:buSzPts val="1100"/>
              <a:buChar char="●"/>
            </a:pPr>
            <a:r>
              <a:rPr b="1" lang="en-US" sz="1100"/>
              <a:t>Loop Closure (Future):</a:t>
            </a:r>
            <a:r>
              <a:rPr lang="en-US" sz="1100"/>
              <a:t> Recognize revisited regions → globally optimize trajectory.</a:t>
            </a:r>
            <a:endParaRPr sz="1100"/>
          </a:p>
          <a:p>
            <a:pPr indent="0" lvl="0" marL="0" rtl="0" algn="l">
              <a:lnSpc>
                <a:spcPct val="115000"/>
              </a:lnSpc>
              <a:spcBef>
                <a:spcPts val="1200"/>
              </a:spcBef>
              <a:spcAft>
                <a:spcPts val="0"/>
              </a:spcAft>
              <a:buNone/>
            </a:pPr>
            <a:r>
              <a:rPr b="1" lang="en-US" sz="1100"/>
              <a:t>Environmental Robustness</a:t>
            </a:r>
            <a:endParaRPr b="1" sz="1100"/>
          </a:p>
          <a:p>
            <a:pPr indent="-298450" lvl="0" marL="457200" rtl="0" algn="l">
              <a:lnSpc>
                <a:spcPct val="115000"/>
              </a:lnSpc>
              <a:spcBef>
                <a:spcPts val="1200"/>
              </a:spcBef>
              <a:spcAft>
                <a:spcPts val="0"/>
              </a:spcAft>
              <a:buSzPts val="1100"/>
              <a:buChar char="●"/>
            </a:pPr>
            <a:r>
              <a:rPr b="1" lang="en-US" sz="1100"/>
              <a:t>Lighting Variations:</a:t>
            </a:r>
            <a:r>
              <a:rPr lang="en-US" sz="1100"/>
              <a:t> Day, night, tunnels, shadows → ensure semantic feature detectability.</a:t>
            </a:r>
            <a:endParaRPr sz="1100"/>
          </a:p>
          <a:p>
            <a:pPr indent="-298450" lvl="0" marL="457200" rtl="0" algn="l">
              <a:lnSpc>
                <a:spcPct val="115000"/>
              </a:lnSpc>
              <a:spcBef>
                <a:spcPts val="0"/>
              </a:spcBef>
              <a:spcAft>
                <a:spcPts val="0"/>
              </a:spcAft>
              <a:buSzPts val="1100"/>
              <a:buChar char="●"/>
            </a:pPr>
            <a:r>
              <a:rPr b="1" lang="en-US" sz="1100"/>
              <a:t>Weather Conditions:</a:t>
            </a:r>
            <a:r>
              <a:rPr lang="en-US" sz="1100"/>
              <a:t> Rain, fog, glare → test stability &amp; accuracy.</a:t>
            </a:r>
            <a:endParaRPr sz="1100"/>
          </a:p>
          <a:p>
            <a:pPr indent="-298450" lvl="0" marL="457200" rtl="0" algn="l">
              <a:lnSpc>
                <a:spcPct val="115000"/>
              </a:lnSpc>
              <a:spcBef>
                <a:spcPts val="0"/>
              </a:spcBef>
              <a:spcAft>
                <a:spcPts val="0"/>
              </a:spcAft>
              <a:buSzPts val="1100"/>
              <a:buChar char="●"/>
            </a:pPr>
            <a:r>
              <a:rPr b="1" lang="en-US" sz="1100"/>
              <a:t>Seasonal Changes:</a:t>
            </a:r>
            <a:r>
              <a:rPr lang="en-US" sz="1100"/>
              <a:t> Vegetation/construction impact on detection &amp; matching.</a:t>
            </a:r>
            <a:endParaRPr sz="1100"/>
          </a:p>
          <a:p>
            <a:pPr indent="0" lvl="0" marL="0" rtl="0" algn="l">
              <a:lnSpc>
                <a:spcPct val="115000"/>
              </a:lnSpc>
              <a:spcBef>
                <a:spcPts val="1200"/>
              </a:spcBef>
              <a:spcAft>
                <a:spcPts val="0"/>
              </a:spcAft>
              <a:buNone/>
            </a:pPr>
            <a:r>
              <a:rPr b="1" lang="en-US" sz="1100"/>
              <a:t>Infrastructure Variability</a:t>
            </a:r>
            <a:endParaRPr b="1" sz="1100"/>
          </a:p>
          <a:p>
            <a:pPr indent="-298450" lvl="0" marL="457200" rtl="0" algn="l">
              <a:lnSpc>
                <a:spcPct val="115000"/>
              </a:lnSpc>
              <a:spcBef>
                <a:spcPts val="1200"/>
              </a:spcBef>
              <a:spcAft>
                <a:spcPts val="0"/>
              </a:spcAft>
              <a:buSzPts val="1100"/>
              <a:buChar char="●"/>
            </a:pPr>
            <a:r>
              <a:rPr b="1" lang="en-US" sz="1100"/>
              <a:t>Road Network Complexity:</a:t>
            </a:r>
            <a:r>
              <a:rPr lang="en-US" sz="1100"/>
              <a:t> Straight roads, turns, intersections, overpasses, underpasses → verify heading &amp; lane-level accuracy.</a:t>
            </a:r>
            <a:endParaRPr sz="1100"/>
          </a:p>
          <a:p>
            <a:pPr indent="-298450" lvl="0" marL="457200" rtl="0" algn="l">
              <a:lnSpc>
                <a:spcPct val="115000"/>
              </a:lnSpc>
              <a:spcBef>
                <a:spcPts val="0"/>
              </a:spcBef>
              <a:spcAft>
                <a:spcPts val="0"/>
              </a:spcAft>
              <a:buSzPts val="1100"/>
              <a:buChar char="●"/>
            </a:pPr>
            <a:r>
              <a:rPr b="1" lang="en-US" sz="1100"/>
              <a:t>Feature Density:</a:t>
            </a:r>
            <a:r>
              <a:rPr lang="en-US" sz="1100"/>
              <a:t> Compare dense urban vs. sparse highways/rural roads.</a:t>
            </a:r>
            <a:endParaRPr sz="1100"/>
          </a:p>
          <a:p>
            <a:pPr indent="0" lvl="0" marL="0" rtl="0" algn="l">
              <a:lnSpc>
                <a:spcPct val="115000"/>
              </a:lnSpc>
              <a:spcBef>
                <a:spcPts val="1200"/>
              </a:spcBef>
              <a:spcAft>
                <a:spcPts val="0"/>
              </a:spcAft>
              <a:buNone/>
            </a:pPr>
            <a:r>
              <a:rPr b="1" lang="en-US" sz="1100"/>
              <a:t>Computational Efficiency &amp; Real-time Capability</a:t>
            </a:r>
            <a:endParaRPr b="1" sz="1100"/>
          </a:p>
          <a:p>
            <a:pPr indent="-298450" lvl="0" marL="457200" rtl="0" algn="l">
              <a:lnSpc>
                <a:spcPct val="115000"/>
              </a:lnSpc>
              <a:spcBef>
                <a:spcPts val="1200"/>
              </a:spcBef>
              <a:spcAft>
                <a:spcPts val="0"/>
              </a:spcAft>
              <a:buSzPts val="1100"/>
              <a:buChar char="●"/>
            </a:pPr>
            <a:r>
              <a:rPr b="1" lang="en-US" sz="1100"/>
              <a:t>Resource Utilization:</a:t>
            </a:r>
            <a:r>
              <a:rPr lang="en-US" sz="1100"/>
              <a:t> CPU/GPU load, memory, power usage on embedded hardware.</a:t>
            </a:r>
            <a:endParaRPr sz="1100"/>
          </a:p>
          <a:p>
            <a:pPr indent="-298450" lvl="0" marL="457200" rtl="0" algn="l">
              <a:lnSpc>
                <a:spcPct val="115000"/>
              </a:lnSpc>
              <a:spcBef>
                <a:spcPts val="0"/>
              </a:spcBef>
              <a:spcAft>
                <a:spcPts val="0"/>
              </a:spcAft>
              <a:buSzPts val="1100"/>
              <a:buChar char="●"/>
            </a:pPr>
            <a:r>
              <a:rPr b="1" lang="en-US" sz="1100"/>
              <a:t>Processing Latency:</a:t>
            </a:r>
            <a:r>
              <a:rPr lang="en-US" sz="1100"/>
              <a:t> End-to-end latency from image → pose output (real-time check).</a:t>
            </a:r>
            <a:endParaRPr sz="1100"/>
          </a:p>
          <a:p>
            <a:pPr indent="0" lvl="0" marL="0" rtl="0" algn="l">
              <a:lnSpc>
                <a:spcPct val="115000"/>
              </a:lnSpc>
              <a:spcBef>
                <a:spcPts val="1200"/>
              </a:spcBef>
              <a:spcAft>
                <a:spcPts val="0"/>
              </a:spcAft>
              <a:buNone/>
            </a:pPr>
            <a:r>
              <a:rPr b="1" lang="en-US" sz="1100"/>
              <a:t>Initial Localization &amp; Re-localization</a:t>
            </a:r>
            <a:endParaRPr b="1" sz="1100"/>
          </a:p>
          <a:p>
            <a:pPr indent="-298450" lvl="0" marL="457200" rtl="0" algn="l">
              <a:lnSpc>
                <a:spcPct val="115000"/>
              </a:lnSpc>
              <a:spcBef>
                <a:spcPts val="1200"/>
              </a:spcBef>
              <a:spcAft>
                <a:spcPts val="0"/>
              </a:spcAft>
              <a:buSzPts val="1100"/>
              <a:buChar char="●"/>
            </a:pPr>
            <a:r>
              <a:rPr b="1" lang="en-US" sz="1100"/>
              <a:t>Initial Position Recovery:</a:t>
            </a:r>
            <a:r>
              <a:rPr lang="en-US" sz="1100"/>
              <a:t> Refine rough initial position quickly via first semantic matches.</a:t>
            </a:r>
            <a:endParaRPr sz="1100"/>
          </a:p>
          <a:p>
            <a:pPr indent="-298450" lvl="0" marL="457200" rtl="0" algn="l">
              <a:lnSpc>
                <a:spcPct val="115000"/>
              </a:lnSpc>
              <a:spcBef>
                <a:spcPts val="0"/>
              </a:spcBef>
              <a:spcAft>
                <a:spcPts val="0"/>
              </a:spcAft>
              <a:buSzPts val="1100"/>
              <a:buChar char="●"/>
            </a:pPr>
            <a:r>
              <a:rPr b="1" lang="en-US" sz="1100"/>
              <a:t>Re-localization from Loss:</a:t>
            </a:r>
            <a:r>
              <a:rPr lang="en-US" sz="1100"/>
              <a:t> Simulate featureless zones (tunnels) → recover when features reappear.</a:t>
            </a:r>
            <a:endParaRPr b="1" sz="1700"/>
          </a:p>
        </p:txBody>
      </p:sp>
      <p:sp>
        <p:nvSpPr>
          <p:cNvPr id="105" name="Google Shape;105;g38464e8348c_1_33"/>
          <p:cNvSpPr txBox="1"/>
          <p:nvPr/>
        </p:nvSpPr>
        <p:spPr>
          <a:xfrm>
            <a:off x="6527525" y="345325"/>
            <a:ext cx="5664600" cy="65127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400"/>
              </a:spcBef>
              <a:spcAft>
                <a:spcPts val="0"/>
              </a:spcAft>
              <a:buNone/>
            </a:pPr>
            <a:r>
              <a:rPr b="1" lang="en-US" sz="1300"/>
              <a:t>Use Cases</a:t>
            </a:r>
            <a:endParaRPr b="1" sz="1300"/>
          </a:p>
          <a:p>
            <a:pPr indent="0" lvl="0" marL="0" rtl="0" algn="l">
              <a:lnSpc>
                <a:spcPct val="115000"/>
              </a:lnSpc>
              <a:spcBef>
                <a:spcPts val="1200"/>
              </a:spcBef>
              <a:spcAft>
                <a:spcPts val="0"/>
              </a:spcAft>
              <a:buNone/>
            </a:pPr>
            <a:r>
              <a:rPr b="1" lang="en-US" sz="1100"/>
              <a:t>Autonomous Driving &amp; ADAS</a:t>
            </a:r>
            <a:endParaRPr b="1" sz="1100"/>
          </a:p>
          <a:p>
            <a:pPr indent="-298450" lvl="0" marL="457200" rtl="0" algn="l">
              <a:lnSpc>
                <a:spcPct val="115000"/>
              </a:lnSpc>
              <a:spcBef>
                <a:spcPts val="1200"/>
              </a:spcBef>
              <a:spcAft>
                <a:spcPts val="0"/>
              </a:spcAft>
              <a:buSzPts val="1100"/>
              <a:buChar char="●"/>
            </a:pPr>
            <a:r>
              <a:rPr b="1" lang="en-US" sz="1100"/>
              <a:t>GPS-Denied Navigation:</a:t>
            </a:r>
            <a:r>
              <a:rPr lang="en-US" sz="1100"/>
              <a:t> Works in tunnels, car parks, forests, urban canyons.</a:t>
            </a:r>
            <a:endParaRPr sz="1100"/>
          </a:p>
          <a:p>
            <a:pPr indent="-298450" lvl="0" marL="457200" rtl="0" algn="l">
              <a:lnSpc>
                <a:spcPct val="115000"/>
              </a:lnSpc>
              <a:spcBef>
                <a:spcPts val="0"/>
              </a:spcBef>
              <a:spcAft>
                <a:spcPts val="0"/>
              </a:spcAft>
              <a:buSzPts val="1100"/>
              <a:buChar char="●"/>
            </a:pPr>
            <a:r>
              <a:rPr b="1" lang="en-US" sz="1100"/>
              <a:t>Redundant Positioning:</a:t>
            </a:r>
            <a:r>
              <a:rPr lang="en-US" sz="1100"/>
              <a:t> Low-cost fallback when GPS/sensors fail.</a:t>
            </a:r>
            <a:endParaRPr sz="1100"/>
          </a:p>
          <a:p>
            <a:pPr indent="-298450" lvl="0" marL="457200" rtl="0" algn="l">
              <a:lnSpc>
                <a:spcPct val="115000"/>
              </a:lnSpc>
              <a:spcBef>
                <a:spcPts val="0"/>
              </a:spcBef>
              <a:spcAft>
                <a:spcPts val="0"/>
              </a:spcAft>
              <a:buSzPts val="1100"/>
              <a:buChar char="●"/>
            </a:pPr>
            <a:r>
              <a:rPr b="1" lang="en-US" sz="1100"/>
              <a:t>Enhanced Situational Awareness:</a:t>
            </a:r>
            <a:r>
              <a:rPr lang="en-US" sz="1100"/>
              <a:t> Lane-level accuracy, road signs, junction layouts.</a:t>
            </a:r>
            <a:endParaRPr sz="1100"/>
          </a:p>
          <a:p>
            <a:pPr indent="0" lvl="0" marL="0" rtl="0" algn="l">
              <a:lnSpc>
                <a:spcPct val="115000"/>
              </a:lnSpc>
              <a:spcBef>
                <a:spcPts val="1200"/>
              </a:spcBef>
              <a:spcAft>
                <a:spcPts val="0"/>
              </a:spcAft>
              <a:buNone/>
            </a:pPr>
            <a:r>
              <a:rPr b="1" lang="en-US" sz="1100"/>
              <a:t>Smart Dashcams &amp; Fleet Management</a:t>
            </a:r>
            <a:endParaRPr b="1" sz="1100"/>
          </a:p>
          <a:p>
            <a:pPr indent="-298450" lvl="0" marL="457200" rtl="0" algn="l">
              <a:lnSpc>
                <a:spcPct val="115000"/>
              </a:lnSpc>
              <a:spcBef>
                <a:spcPts val="1200"/>
              </a:spcBef>
              <a:spcAft>
                <a:spcPts val="0"/>
              </a:spcAft>
              <a:buSzPts val="1100"/>
              <a:buChar char="●"/>
            </a:pPr>
            <a:r>
              <a:rPr b="1" lang="en-US" sz="1100"/>
              <a:t>Detailed Route Logging:</a:t>
            </a:r>
            <a:r>
              <a:rPr lang="en-US" sz="1100"/>
              <a:t> Trajectory + feature logs for incidents, optimization, proof of delivery.</a:t>
            </a:r>
            <a:endParaRPr sz="1100"/>
          </a:p>
          <a:p>
            <a:pPr indent="-298450" lvl="0" marL="457200" rtl="0" algn="l">
              <a:lnSpc>
                <a:spcPct val="115000"/>
              </a:lnSpc>
              <a:spcBef>
                <a:spcPts val="0"/>
              </a:spcBef>
              <a:spcAft>
                <a:spcPts val="0"/>
              </a:spcAft>
              <a:buSzPts val="1100"/>
              <a:buChar char="●"/>
            </a:pPr>
            <a:r>
              <a:rPr b="1" lang="en-US" sz="1100"/>
              <a:t>Infrastructure Monitoring:</a:t>
            </a:r>
            <a:r>
              <a:rPr lang="en-US" sz="1100"/>
              <a:t> Auto-detect &amp; log new road signs, construction, defects → real-time map updates.</a:t>
            </a:r>
            <a:endParaRPr sz="1100"/>
          </a:p>
          <a:p>
            <a:pPr indent="0" lvl="0" marL="0" rtl="0" algn="l">
              <a:lnSpc>
                <a:spcPct val="115000"/>
              </a:lnSpc>
              <a:spcBef>
                <a:spcPts val="1200"/>
              </a:spcBef>
              <a:spcAft>
                <a:spcPts val="0"/>
              </a:spcAft>
              <a:buNone/>
            </a:pPr>
            <a:r>
              <a:rPr b="1" lang="en-US" sz="1100"/>
              <a:t>Mobile Robotics &amp; Delivery Systems</a:t>
            </a:r>
            <a:endParaRPr b="1" sz="1100"/>
          </a:p>
          <a:p>
            <a:pPr indent="-298450" lvl="0" marL="457200" rtl="0" algn="l">
              <a:lnSpc>
                <a:spcPct val="115000"/>
              </a:lnSpc>
              <a:spcBef>
                <a:spcPts val="1200"/>
              </a:spcBef>
              <a:spcAft>
                <a:spcPts val="0"/>
              </a:spcAft>
              <a:buSzPts val="1100"/>
              <a:buChar char="●"/>
            </a:pPr>
            <a:r>
              <a:rPr b="1" lang="en-US" sz="1100"/>
              <a:t>Last-Mile Delivery:</a:t>
            </a:r>
            <a:r>
              <a:rPr lang="en-US" sz="1100"/>
              <a:t> Navigate complex urban/suburban routes, GPS blackouts.</a:t>
            </a:r>
            <a:endParaRPr sz="1100"/>
          </a:p>
          <a:p>
            <a:pPr indent="-298450" lvl="0" marL="457200" rtl="0" algn="l">
              <a:lnSpc>
                <a:spcPct val="115000"/>
              </a:lnSpc>
              <a:spcBef>
                <a:spcPts val="0"/>
              </a:spcBef>
              <a:spcAft>
                <a:spcPts val="0"/>
              </a:spcAft>
              <a:buSzPts val="1100"/>
              <a:buChar char="●"/>
            </a:pPr>
            <a:r>
              <a:rPr b="1" lang="en-US" sz="1100"/>
              <a:t>Indoor–Outdoor Transition:</a:t>
            </a:r>
            <a:r>
              <a:rPr lang="en-US" sz="1100"/>
              <a:t> Seamless handover between GPS and visual localization.</a:t>
            </a:r>
            <a:endParaRPr sz="1100"/>
          </a:p>
          <a:p>
            <a:pPr indent="0" lvl="0" marL="0" rtl="0" algn="l">
              <a:lnSpc>
                <a:spcPct val="115000"/>
              </a:lnSpc>
              <a:spcBef>
                <a:spcPts val="1200"/>
              </a:spcBef>
              <a:spcAft>
                <a:spcPts val="0"/>
              </a:spcAft>
              <a:buNone/>
            </a:pPr>
            <a:r>
              <a:rPr b="1" lang="en-US" sz="1100"/>
              <a:t>Precision Agriculture &amp; Off-Road Navigation</a:t>
            </a:r>
            <a:endParaRPr b="1" sz="1100"/>
          </a:p>
          <a:p>
            <a:pPr indent="-298450" lvl="0" marL="457200" rtl="0" algn="l">
              <a:lnSpc>
                <a:spcPct val="115000"/>
              </a:lnSpc>
              <a:spcBef>
                <a:spcPts val="1200"/>
              </a:spcBef>
              <a:spcAft>
                <a:spcPts val="0"/>
              </a:spcAft>
              <a:buSzPts val="1100"/>
              <a:buChar char="●"/>
            </a:pPr>
            <a:r>
              <a:rPr b="1" lang="en-US" sz="1100"/>
              <a:t>Autonomous Machinery:</a:t>
            </a:r>
            <a:r>
              <a:rPr lang="en-US" sz="1100"/>
              <a:t> Guide tractors/harvesters in low-GPS fields with visual cues.</a:t>
            </a:r>
            <a:endParaRPr sz="1100"/>
          </a:p>
          <a:p>
            <a:pPr indent="-298450" lvl="0" marL="457200" rtl="0" algn="l">
              <a:lnSpc>
                <a:spcPct val="115000"/>
              </a:lnSpc>
              <a:spcBef>
                <a:spcPts val="0"/>
              </a:spcBef>
              <a:spcAft>
                <a:spcPts val="0"/>
              </a:spcAft>
              <a:buSzPts val="1100"/>
              <a:buChar char="●"/>
            </a:pPr>
            <a:r>
              <a:rPr b="1" lang="en-US" sz="1100"/>
              <a:t>Resource Exploration:</a:t>
            </a:r>
            <a:r>
              <a:rPr lang="en-US" sz="1100"/>
              <a:t> Navigate unmapped/remote terrains with natural features.</a:t>
            </a:r>
            <a:endParaRPr sz="1100"/>
          </a:p>
          <a:p>
            <a:pPr indent="0" lvl="0" marL="0" rtl="0" algn="l">
              <a:lnSpc>
                <a:spcPct val="115000"/>
              </a:lnSpc>
              <a:spcBef>
                <a:spcPts val="1200"/>
              </a:spcBef>
              <a:spcAft>
                <a:spcPts val="0"/>
              </a:spcAft>
              <a:buNone/>
            </a:pPr>
            <a:r>
              <a:rPr b="1" lang="en-US" sz="1100"/>
              <a:t>Augmented Reality (AR) Navigation</a:t>
            </a:r>
            <a:endParaRPr b="1" sz="1100"/>
          </a:p>
          <a:p>
            <a:pPr indent="-298450" lvl="0" marL="457200" rtl="0" algn="l">
              <a:lnSpc>
                <a:spcPct val="115000"/>
              </a:lnSpc>
              <a:spcBef>
                <a:spcPts val="1200"/>
              </a:spcBef>
              <a:spcAft>
                <a:spcPts val="0"/>
              </a:spcAft>
              <a:buSzPts val="1100"/>
              <a:buChar char="●"/>
            </a:pPr>
            <a:r>
              <a:rPr b="1" lang="en-US" sz="1100"/>
              <a:t>Persistent AR Overlays:</a:t>
            </a:r>
            <a:r>
              <a:rPr lang="en-US" sz="1100"/>
              <a:t> Stable, drift-free localization → accurate virtual anchoring for navigation, tourism, or maintenance.</a:t>
            </a:r>
            <a:endParaRPr b="1" sz="17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g31ae5748121_0_65"/>
          <p:cNvSpPr txBox="1"/>
          <p:nvPr>
            <p:ph idx="12" type="sldNum"/>
          </p:nvPr>
        </p:nvSpPr>
        <p:spPr>
          <a:xfrm>
            <a:off x="9448799" y="6492875"/>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11" name="Google Shape;111;g31ae5748121_0_65"/>
          <p:cNvSpPr txBox="1"/>
          <p:nvPr/>
        </p:nvSpPr>
        <p:spPr>
          <a:xfrm>
            <a:off x="3720300" y="0"/>
            <a:ext cx="4824600" cy="4938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rgbClr val="000000"/>
                </a:solidFill>
                <a:latin typeface="Montserrat"/>
                <a:ea typeface="Montserrat"/>
                <a:cs typeface="Montserrat"/>
                <a:sym typeface="Montserrat"/>
              </a:rPr>
              <a:t>Conclusion &amp; Future Work</a:t>
            </a:r>
            <a:endParaRPr b="0" i="0" sz="1400" u="none" cap="none" strike="noStrike">
              <a:solidFill>
                <a:srgbClr val="000000"/>
              </a:solidFill>
              <a:latin typeface="Arial"/>
              <a:ea typeface="Arial"/>
              <a:cs typeface="Arial"/>
              <a:sym typeface="Arial"/>
            </a:endParaRPr>
          </a:p>
        </p:txBody>
      </p:sp>
      <p:sp>
        <p:nvSpPr>
          <p:cNvPr id="112" name="Google Shape;112;g31ae5748121_0_65"/>
          <p:cNvSpPr txBox="1"/>
          <p:nvPr/>
        </p:nvSpPr>
        <p:spPr>
          <a:xfrm>
            <a:off x="177450" y="491875"/>
            <a:ext cx="11910300" cy="6303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1" i="0" lang="en-US" sz="1800" u="none" cap="none" strike="noStrike">
                <a:solidFill>
                  <a:srgbClr val="000000"/>
                </a:solidFill>
                <a:latin typeface="Verdana"/>
                <a:ea typeface="Verdana"/>
                <a:cs typeface="Verdana"/>
                <a:sym typeface="Verdana"/>
              </a:rPr>
              <a:t>Summary and Conclusion </a:t>
            </a:r>
            <a:endParaRPr b="0" i="0" sz="1500" u="none" cap="none" strike="noStrike">
              <a:solidFill>
                <a:srgbClr val="000000"/>
              </a:solidFill>
              <a:latin typeface="Verdana"/>
              <a:ea typeface="Verdana"/>
              <a:cs typeface="Verdana"/>
              <a:sym typeface="Verdana"/>
            </a:endParaRPr>
          </a:p>
          <a:p>
            <a:pPr indent="-304800" lvl="0" marL="914400" rtl="0" algn="l">
              <a:spcBef>
                <a:spcPts val="1200"/>
              </a:spcBef>
              <a:spcAft>
                <a:spcPts val="0"/>
              </a:spcAft>
              <a:buSzPts val="1200"/>
              <a:buChar char="●"/>
            </a:pPr>
            <a:r>
              <a:rPr lang="en-US" sz="1200"/>
              <a:t>VisualMap Mono is a GPS-independent localization and path reconstruction system.</a:t>
            </a:r>
            <a:endParaRPr sz="1200"/>
          </a:p>
          <a:p>
            <a:pPr indent="-304800" lvl="0" marL="914400" rtl="0" algn="l">
              <a:spcBef>
                <a:spcPts val="0"/>
              </a:spcBef>
              <a:spcAft>
                <a:spcPts val="0"/>
              </a:spcAft>
              <a:buSzPts val="1200"/>
              <a:buChar char="●"/>
            </a:pPr>
            <a:r>
              <a:rPr lang="en-US" sz="1200"/>
              <a:t>It uses a monocular camera for visual odometry and semantic feature matching with digital maps.</a:t>
            </a:r>
            <a:endParaRPr sz="1200"/>
          </a:p>
          <a:p>
            <a:pPr indent="-304800" lvl="0" marL="914400" rtl="0" algn="l">
              <a:spcBef>
                <a:spcPts val="0"/>
              </a:spcBef>
              <a:spcAft>
                <a:spcPts val="0"/>
              </a:spcAft>
              <a:buSzPts val="1200"/>
              <a:buChar char="●"/>
            </a:pPr>
            <a:r>
              <a:rPr lang="en-US" sz="1200"/>
              <a:t>The system detects and matches visual features against map data for localization.</a:t>
            </a:r>
            <a:endParaRPr sz="1200"/>
          </a:p>
          <a:p>
            <a:pPr indent="-304800" lvl="0" marL="914400" rtl="0" algn="l">
              <a:spcBef>
                <a:spcPts val="0"/>
              </a:spcBef>
              <a:spcAft>
                <a:spcPts val="0"/>
              </a:spcAft>
              <a:buSzPts val="1200"/>
              <a:buChar char="●"/>
            </a:pPr>
            <a:r>
              <a:rPr lang="en-US" sz="1200"/>
              <a:t>It addresses challenges like VO scale drift, computational demands, and environmental variability.</a:t>
            </a:r>
            <a:endParaRPr sz="1200"/>
          </a:p>
          <a:p>
            <a:pPr indent="-304800" lvl="0" marL="914400" rtl="0" algn="l">
              <a:spcBef>
                <a:spcPts val="0"/>
              </a:spcBef>
              <a:spcAft>
                <a:spcPts val="0"/>
              </a:spcAft>
              <a:buSzPts val="1200"/>
              <a:buChar char="●"/>
            </a:pPr>
            <a:r>
              <a:rPr lang="en-US" sz="1200"/>
              <a:t>The project provides a strong foundation for future research in autonomous navigation.</a:t>
            </a:r>
            <a:endParaRPr b="1" sz="1200">
              <a:latin typeface="Verdana"/>
              <a:ea typeface="Verdana"/>
              <a:cs typeface="Verdana"/>
              <a:sym typeface="Verdana"/>
            </a:endParaRPr>
          </a:p>
          <a:p>
            <a:pPr indent="0" lvl="0" marL="0" rtl="0" algn="l">
              <a:spcBef>
                <a:spcPts val="1200"/>
              </a:spcBef>
              <a:spcAft>
                <a:spcPts val="0"/>
              </a:spcAft>
              <a:buClr>
                <a:srgbClr val="000000"/>
              </a:buClr>
              <a:buSzPts val="1400"/>
              <a:buFont typeface="Arial"/>
              <a:buNone/>
            </a:pPr>
            <a:r>
              <a:rPr b="1" lang="en-US" sz="1800">
                <a:latin typeface="Verdana"/>
                <a:ea typeface="Verdana"/>
                <a:cs typeface="Verdana"/>
                <a:sym typeface="Verdana"/>
              </a:rPr>
              <a:t>Future Work </a:t>
            </a:r>
            <a:endParaRPr sz="1500">
              <a:latin typeface="Verdana"/>
              <a:ea typeface="Verdana"/>
              <a:cs typeface="Verdana"/>
              <a:sym typeface="Verdana"/>
            </a:endParaRPr>
          </a:p>
          <a:p>
            <a:pPr indent="-304800" lvl="0" marL="914400" rtl="0" algn="l">
              <a:spcBef>
                <a:spcPts val="1200"/>
              </a:spcBef>
              <a:spcAft>
                <a:spcPts val="0"/>
              </a:spcAft>
              <a:buSzPts val="1200"/>
              <a:buChar char="●"/>
            </a:pPr>
            <a:r>
              <a:rPr b="1" lang="en-US" sz="1200"/>
              <a:t>Robust Semantic Feature Integration:</a:t>
            </a:r>
            <a:endParaRPr b="1" sz="1200"/>
          </a:p>
          <a:p>
            <a:pPr indent="-292100" lvl="1" marL="1371600" rtl="0" algn="l">
              <a:spcBef>
                <a:spcPts val="0"/>
              </a:spcBef>
              <a:spcAft>
                <a:spcPts val="0"/>
              </a:spcAft>
              <a:buSzPts val="1000"/>
              <a:buChar char="○"/>
            </a:pPr>
            <a:r>
              <a:rPr lang="en-US" sz="1000"/>
              <a:t>Enhance semantic feature extraction using advanced deep learning models.</a:t>
            </a:r>
            <a:endParaRPr sz="1000"/>
          </a:p>
          <a:p>
            <a:pPr indent="-292100" lvl="1" marL="1371600" rtl="0" algn="l">
              <a:spcBef>
                <a:spcPts val="0"/>
              </a:spcBef>
              <a:spcAft>
                <a:spcPts val="0"/>
              </a:spcAft>
              <a:buSzPts val="1000"/>
              <a:buChar char="○"/>
            </a:pPr>
            <a:r>
              <a:rPr lang="en-US" sz="1000"/>
              <a:t>Develop sophisticated feature descriptors fusing visual characteristics and spatial context.</a:t>
            </a:r>
            <a:endParaRPr sz="1000"/>
          </a:p>
          <a:p>
            <a:pPr indent="-304800" lvl="0" marL="914400" rtl="0" algn="l">
              <a:spcBef>
                <a:spcPts val="0"/>
              </a:spcBef>
              <a:spcAft>
                <a:spcPts val="0"/>
              </a:spcAft>
              <a:buSzPts val="1200"/>
              <a:buChar char="●"/>
            </a:pPr>
            <a:r>
              <a:rPr b="1" lang="en-US" sz="1200"/>
              <a:t>Advanced Pattern Matching &amp; Localization:</a:t>
            </a:r>
            <a:endParaRPr b="1" sz="1200"/>
          </a:p>
          <a:p>
            <a:pPr indent="-292100" lvl="1" marL="1371600" rtl="0" algn="l">
              <a:spcBef>
                <a:spcPts val="0"/>
              </a:spcBef>
              <a:spcAft>
                <a:spcPts val="0"/>
              </a:spcAft>
              <a:buSzPts val="1000"/>
              <a:buChar char="○"/>
            </a:pPr>
            <a:r>
              <a:rPr lang="en-US" sz="1000"/>
              <a:t>Implement probabilistic filtering techniques to combine VO estimates with map-matched features.</a:t>
            </a:r>
            <a:endParaRPr sz="1000"/>
          </a:p>
          <a:p>
            <a:pPr indent="-292100" lvl="1" marL="1371600" rtl="0" algn="l">
              <a:spcBef>
                <a:spcPts val="0"/>
              </a:spcBef>
              <a:spcAft>
                <a:spcPts val="0"/>
              </a:spcAft>
              <a:buSzPts val="1000"/>
              <a:buChar char="○"/>
            </a:pPr>
            <a:r>
              <a:rPr lang="en-US" sz="1000"/>
              <a:t>Develop dynamic search radii and confidence-based re-localization triggers.</a:t>
            </a:r>
            <a:endParaRPr sz="1000"/>
          </a:p>
          <a:p>
            <a:pPr indent="-292100" lvl="1" marL="1371600" rtl="0" algn="l">
              <a:spcBef>
                <a:spcPts val="0"/>
              </a:spcBef>
              <a:spcAft>
                <a:spcPts val="0"/>
              </a:spcAft>
              <a:buSzPts val="1000"/>
              <a:buChar char="○"/>
            </a:pPr>
            <a:r>
              <a:rPr lang="en-US" sz="1000"/>
              <a:t>Integrate complex map enhancements like road curvature and elevation.</a:t>
            </a:r>
            <a:endParaRPr sz="1000"/>
          </a:p>
          <a:p>
            <a:pPr indent="-304800" lvl="0" marL="914400" rtl="0" algn="l">
              <a:spcBef>
                <a:spcPts val="0"/>
              </a:spcBef>
              <a:spcAft>
                <a:spcPts val="0"/>
              </a:spcAft>
              <a:buSzPts val="1200"/>
              <a:buChar char="●"/>
            </a:pPr>
            <a:r>
              <a:rPr b="1" lang="en-US" sz="1200"/>
              <a:t>Trajectory Optimization &amp; Consistency:</a:t>
            </a:r>
            <a:endParaRPr b="1" sz="1200"/>
          </a:p>
          <a:p>
            <a:pPr indent="-292100" lvl="1" marL="1371600" rtl="0" algn="l">
              <a:spcBef>
                <a:spcPts val="0"/>
              </a:spcBef>
              <a:spcAft>
                <a:spcPts val="0"/>
              </a:spcAft>
              <a:buSzPts val="1000"/>
              <a:buChar char="○"/>
            </a:pPr>
            <a:r>
              <a:rPr lang="en-US" sz="1000"/>
              <a:t>Develop algorithms for global trajectory optimization to ensure long-term consistency.</a:t>
            </a:r>
            <a:endParaRPr sz="1000"/>
          </a:p>
          <a:p>
            <a:pPr indent="-292100" lvl="1" marL="1371600" rtl="0" algn="l">
              <a:spcBef>
                <a:spcPts val="0"/>
              </a:spcBef>
              <a:spcAft>
                <a:spcPts val="0"/>
              </a:spcAft>
              <a:buSzPts val="1000"/>
              <a:buChar char="○"/>
            </a:pPr>
            <a:r>
              <a:rPr lang="en-US" sz="1000"/>
              <a:t>Explore techniques to re-align low-confidence VO estimates with high-confidence map regions.</a:t>
            </a:r>
            <a:endParaRPr sz="1000"/>
          </a:p>
          <a:p>
            <a:pPr indent="-304800" lvl="0" marL="914400" rtl="0" algn="l">
              <a:spcBef>
                <a:spcPts val="0"/>
              </a:spcBef>
              <a:spcAft>
                <a:spcPts val="0"/>
              </a:spcAft>
              <a:buSzPts val="1200"/>
              <a:buChar char="●"/>
            </a:pPr>
            <a:r>
              <a:rPr b="1" lang="en-US" sz="1200"/>
              <a:t>Real-time Performance Optimization:</a:t>
            </a:r>
            <a:endParaRPr b="1" sz="1200"/>
          </a:p>
          <a:p>
            <a:pPr indent="-292100" lvl="1" marL="1371600" rtl="0" algn="l">
              <a:spcBef>
                <a:spcPts val="0"/>
              </a:spcBef>
              <a:spcAft>
                <a:spcPts val="0"/>
              </a:spcAft>
              <a:buSzPts val="1000"/>
              <a:buChar char="○"/>
            </a:pPr>
            <a:r>
              <a:rPr lang="en-US" sz="1000"/>
              <a:t>Implement strategies to reduce computational load using model pruning and quantization.</a:t>
            </a:r>
            <a:endParaRPr sz="1000"/>
          </a:p>
          <a:p>
            <a:pPr indent="-292100" lvl="1" marL="1371600" rtl="0" algn="l">
              <a:spcBef>
                <a:spcPts val="0"/>
              </a:spcBef>
              <a:spcAft>
                <a:spcPts val="0"/>
              </a:spcAft>
              <a:buSzPts val="1000"/>
              <a:buChar char="○"/>
            </a:pPr>
            <a:r>
              <a:rPr lang="en-US" sz="1000"/>
              <a:t>Optimize image processing and feature tracking pipelines for embedded systems.</a:t>
            </a:r>
            <a:endParaRPr sz="1000"/>
          </a:p>
          <a:p>
            <a:pPr indent="-304800" lvl="0" marL="914400" rtl="0" algn="l">
              <a:spcBef>
                <a:spcPts val="0"/>
              </a:spcBef>
              <a:spcAft>
                <a:spcPts val="0"/>
              </a:spcAft>
              <a:buSzPts val="1200"/>
              <a:buChar char="●"/>
            </a:pPr>
            <a:r>
              <a:rPr b="1" lang="en-US" sz="1200"/>
              <a:t>Integration of External Sensors (Optional but beneficial):</a:t>
            </a:r>
            <a:endParaRPr b="1" sz="1200"/>
          </a:p>
          <a:p>
            <a:pPr indent="-292100" lvl="1" marL="1371600" rtl="0" algn="l">
              <a:spcBef>
                <a:spcPts val="0"/>
              </a:spcBef>
              <a:spcAft>
                <a:spcPts val="0"/>
              </a:spcAft>
              <a:buSzPts val="1000"/>
              <a:buChar char="○"/>
            </a:pPr>
            <a:r>
              <a:rPr lang="en-US" sz="1000"/>
              <a:t>Integrate Inertial Measurement Unit (IMU) data to improve short-term pose prediction.</a:t>
            </a:r>
            <a:endParaRPr sz="1000"/>
          </a:p>
          <a:p>
            <a:pPr indent="-304800" lvl="0" marL="914400" rtl="0" algn="l">
              <a:spcBef>
                <a:spcPts val="0"/>
              </a:spcBef>
              <a:spcAft>
                <a:spcPts val="0"/>
              </a:spcAft>
              <a:buSzPts val="1200"/>
              <a:buChar char="●"/>
            </a:pPr>
            <a:r>
              <a:rPr b="1" lang="en-US" sz="1200"/>
              <a:t>Dataset Expansion &amp; Validation:</a:t>
            </a:r>
            <a:endParaRPr b="1" sz="1200"/>
          </a:p>
          <a:p>
            <a:pPr indent="-292100" lvl="1" marL="1371600" rtl="0" algn="l">
              <a:spcBef>
                <a:spcPts val="0"/>
              </a:spcBef>
              <a:spcAft>
                <a:spcPts val="0"/>
              </a:spcAft>
              <a:buSzPts val="1000"/>
              <a:buChar char="○"/>
            </a:pPr>
            <a:r>
              <a:rPr lang="en-US" sz="1000"/>
              <a:t>Test the system on more diverse real-world datasets with varied environments and conditions.</a:t>
            </a:r>
            <a:endParaRPr sz="1000"/>
          </a:p>
          <a:p>
            <a:pPr indent="-292100" lvl="1" marL="1371600" rtl="0" algn="l">
              <a:spcBef>
                <a:spcPts val="0"/>
              </a:spcBef>
              <a:spcAft>
                <a:spcPts val="0"/>
              </a:spcAft>
              <a:buSzPts val="1000"/>
              <a:buChar char="○"/>
            </a:pPr>
            <a:r>
              <a:rPr lang="en-US" sz="1000"/>
              <a:t>Conduct extensive validation using ground truth data to benchmark accuracy and robustness.</a:t>
            </a:r>
            <a:endParaRPr sz="1000"/>
          </a:p>
          <a:p>
            <a:pPr indent="-304800" lvl="0" marL="914400" rtl="0" algn="l">
              <a:spcBef>
                <a:spcPts val="0"/>
              </a:spcBef>
              <a:spcAft>
                <a:spcPts val="0"/>
              </a:spcAft>
              <a:buSzPts val="1200"/>
              <a:buChar char="●"/>
            </a:pPr>
            <a:r>
              <a:rPr b="1" lang="en-US" sz="1200"/>
              <a:t>Adaptive Learning for Generalization:</a:t>
            </a:r>
            <a:endParaRPr b="1" sz="1200"/>
          </a:p>
          <a:p>
            <a:pPr indent="-292100" lvl="1" marL="1371600" rtl="0" algn="l">
              <a:spcBef>
                <a:spcPts val="0"/>
              </a:spcBef>
              <a:spcAft>
                <a:spcPts val="0"/>
              </a:spcAft>
              <a:buSzPts val="1000"/>
              <a:buChar char="○"/>
            </a:pPr>
            <a:r>
              <a:rPr lang="en-US" sz="1000"/>
              <a:t>Research and develop adaptive learning models for unstructured and dynamic environments.</a:t>
            </a:r>
            <a:endParaRPr sz="1000"/>
          </a:p>
          <a:p>
            <a:pPr indent="-304800" lvl="0" marL="914400" rtl="0" algn="l">
              <a:spcBef>
                <a:spcPts val="0"/>
              </a:spcBef>
              <a:spcAft>
                <a:spcPts val="0"/>
              </a:spcAft>
              <a:buSzPts val="1200"/>
              <a:buChar char="●"/>
            </a:pPr>
            <a:r>
              <a:rPr b="1" lang="en-US" sz="1200"/>
              <a:t>Deployment &amp; Benchmarking:</a:t>
            </a:r>
            <a:endParaRPr b="1" sz="1200"/>
          </a:p>
          <a:p>
            <a:pPr indent="-292100" lvl="1" marL="1371600" rtl="0" algn="l">
              <a:spcBef>
                <a:spcPts val="0"/>
              </a:spcBef>
              <a:spcAft>
                <a:spcPts val="0"/>
              </a:spcAft>
              <a:buSzPts val="1000"/>
              <a:buChar char="○"/>
            </a:pPr>
            <a:r>
              <a:rPr lang="en-US" sz="1000"/>
              <a:t>Deploy the full system on a real vehicle platform for live indoor-outdoor navigation testing.</a:t>
            </a:r>
            <a:endParaRPr sz="1000"/>
          </a:p>
          <a:p>
            <a:pPr indent="-292100" lvl="1" marL="1371600" rtl="0" algn="l">
              <a:spcBef>
                <a:spcPts val="0"/>
              </a:spcBef>
              <a:spcAft>
                <a:spcPts val="0"/>
              </a:spcAft>
              <a:buSzPts val="1000"/>
              <a:buChar char="○"/>
            </a:pPr>
            <a:r>
              <a:rPr lang="en-US" sz="1000"/>
              <a:t>Rigorously benchmark performance against state-of-the-art visual localization systems.</a:t>
            </a:r>
            <a:endParaRPr sz="1000"/>
          </a:p>
          <a:p>
            <a:pPr indent="0" lvl="0" marL="457200" rtl="0" algn="l">
              <a:spcBef>
                <a:spcPts val="1200"/>
              </a:spcBef>
              <a:spcAft>
                <a:spcPts val="0"/>
              </a:spcAft>
              <a:buNone/>
            </a:pPr>
            <a:r>
              <a:t/>
            </a:r>
            <a:endParaRPr sz="1100"/>
          </a:p>
          <a:p>
            <a:pPr indent="0" lvl="0" marL="0" marR="0" rtl="0" algn="l">
              <a:lnSpc>
                <a:spcPct val="100000"/>
              </a:lnSpc>
              <a:spcBef>
                <a:spcPts val="0"/>
              </a:spcBef>
              <a:spcAft>
                <a:spcPts val="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g2fee63df26b_0_0"/>
          <p:cNvSpPr txBox="1"/>
          <p:nvPr/>
        </p:nvSpPr>
        <p:spPr>
          <a:xfrm>
            <a:off x="1233714" y="2607717"/>
            <a:ext cx="9724500" cy="1862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500"/>
              <a:buFont typeface="Arial"/>
              <a:buNone/>
            </a:pPr>
            <a:r>
              <a:rPr b="1" i="0" lang="en-US" sz="11500" u="none" cap="none" strike="noStrike">
                <a:solidFill>
                  <a:srgbClr val="007069"/>
                </a:solidFill>
                <a:latin typeface="Open Sans"/>
                <a:ea typeface="Open Sans"/>
                <a:cs typeface="Open Sans"/>
                <a:sym typeface="Open Sans"/>
              </a:rPr>
              <a:t>THANK </a:t>
            </a:r>
            <a:r>
              <a:rPr b="1" i="0" lang="en-US" sz="11500" u="none" cap="none" strike="noStrike">
                <a:solidFill>
                  <a:srgbClr val="A5A5A5"/>
                </a:solidFill>
                <a:latin typeface="Open Sans"/>
                <a:ea typeface="Open Sans"/>
                <a:cs typeface="Open Sans"/>
                <a:sym typeface="Open Sans"/>
              </a:rPr>
              <a:t>YOU</a:t>
            </a:r>
            <a:endParaRPr b="0" i="0" sz="1400" u="none" cap="none" strike="noStrike">
              <a:solidFill>
                <a:srgbClr val="000000"/>
              </a:solidFill>
              <a:latin typeface="Aharoni"/>
              <a:ea typeface="Aharoni"/>
              <a:cs typeface="Aharoni"/>
              <a:sym typeface="Aharoni"/>
            </a:endParaRPr>
          </a:p>
        </p:txBody>
      </p:sp>
      <p:sp>
        <p:nvSpPr>
          <p:cNvPr id="118" name="Google Shape;118;g2fee63df26b_0_0"/>
          <p:cNvSpPr txBox="1"/>
          <p:nvPr/>
        </p:nvSpPr>
        <p:spPr>
          <a:xfrm>
            <a:off x="1596571" y="4466045"/>
            <a:ext cx="8998800" cy="40006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7F7F7F"/>
                </a:solidFill>
                <a:latin typeface="Open Sans"/>
                <a:ea typeface="Open Sans"/>
                <a:cs typeface="Open Sans"/>
                <a:sym typeface="Open Sans"/>
              </a:rPr>
              <a:t>Have a Great Day ! </a:t>
            </a:r>
            <a:endParaRPr b="0" i="0" sz="1400" u="none" cap="none" strike="noStrike">
              <a:solidFill>
                <a:srgbClr val="000000"/>
              </a:solidFill>
              <a:latin typeface="Aharoni"/>
              <a:ea typeface="Aharoni"/>
              <a:cs typeface="Aharoni"/>
              <a:sym typeface="Aharon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Custom 77">
      <a:dk1>
        <a:srgbClr val="282828"/>
      </a:dk1>
      <a:lt1>
        <a:srgbClr val="FFFFFF"/>
      </a:lt1>
      <a:dk2>
        <a:srgbClr val="282828"/>
      </a:dk2>
      <a:lt2>
        <a:srgbClr val="FAFAFA"/>
      </a:lt2>
      <a:accent1>
        <a:srgbClr val="FFC639"/>
      </a:accent1>
      <a:accent2>
        <a:srgbClr val="F29B6B"/>
      </a:accent2>
      <a:accent3>
        <a:srgbClr val="CCD4FB"/>
      </a:accent3>
      <a:accent4>
        <a:srgbClr val="2B7158"/>
      </a:accent4>
      <a:accent5>
        <a:srgbClr val="456AB8"/>
      </a:accent5>
      <a:accent6>
        <a:srgbClr val="363836"/>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2022-05-23T07:15:42Z</dcterms:created>
  <dc:creator>GITAM</dc:creator>
</cp:coreProperties>
</file>